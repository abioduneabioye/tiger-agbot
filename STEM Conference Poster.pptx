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6"/>
  </p:notesMasterIdLst>
  <p:sldIdLst>
    <p:sldId id="256" r:id="rId5"/>
  </p:sldIdLst>
  <p:sldSz cx="50292000" cy="29260800"/>
  <p:notesSz cx="21128038" cy="32100838"/>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9216" userDrawn="1">
          <p15:clr>
            <a:srgbClr val="A4A3A4"/>
          </p15:clr>
        </p15:guide>
        <p15:guide id="2" pos="15840" userDrawn="1">
          <p15:clr>
            <a:srgbClr val="A4A3A4"/>
          </p15:clr>
        </p15:guide>
      </p15:sldGuideLst>
    </p:ext>
    <p:ext uri="{2D200454-40CA-4A62-9FC3-DE9A4176ACB9}">
      <p15:notesGuideLst xmlns:p15="http://schemas.microsoft.com/office/powerpoint/2012/main">
        <p15:guide id="1" orient="horz" pos="10111" userDrawn="1">
          <p15:clr>
            <a:srgbClr val="A4A3A4"/>
          </p15:clr>
        </p15:guide>
        <p15:guide id="2" pos="6655" userDrawn="1">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iRyj2pkHfAHSAOhTrawTPFsydNG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2" d="100"/>
          <a:sy n="22" d="100"/>
        </p:scale>
        <p:origin x="1434" y="126"/>
      </p:cViewPr>
      <p:guideLst>
        <p:guide orient="horz" pos="9216"/>
        <p:guide pos="15840"/>
      </p:guideLst>
    </p:cSldViewPr>
  </p:slideViewPr>
  <p:notesTextViewPr>
    <p:cViewPr>
      <p:scale>
        <a:sx n="3" d="2"/>
        <a:sy n="3" d="2"/>
      </p:scale>
      <p:origin x="0" y="0"/>
    </p:cViewPr>
  </p:notesTextViewPr>
  <p:notesViewPr>
    <p:cSldViewPr snapToGrid="0">
      <p:cViewPr varScale="1">
        <p:scale>
          <a:sx n="100" d="100"/>
          <a:sy n="100" d="100"/>
        </p:scale>
        <p:origin x="0" y="0"/>
      </p:cViewPr>
      <p:guideLst>
        <p:guide orient="horz" pos="10111"/>
        <p:guide pos="665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customschemas.google.com/relationships/presentationmetadata" Target="metadata"/><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lotte Espinosa" userId="7acdb581-490e-4296-b777-599da3832ba0" providerId="ADAL" clId="{41402486-EE7B-48FC-8D6C-7DF1F42E2DE6}"/>
    <pc:docChg chg="undo modSld">
      <pc:chgData name="Charlotte Espinosa" userId="7acdb581-490e-4296-b777-599da3832ba0" providerId="ADAL" clId="{41402486-EE7B-48FC-8D6C-7DF1F42E2DE6}" dt="2026-03-18T19:01:59.101" v="41" actId="14100"/>
      <pc:docMkLst>
        <pc:docMk/>
      </pc:docMkLst>
      <pc:sldChg chg="modSp">
        <pc:chgData name="Charlotte Espinosa" userId="7acdb581-490e-4296-b777-599da3832ba0" providerId="ADAL" clId="{41402486-EE7B-48FC-8D6C-7DF1F42E2DE6}" dt="2026-03-18T19:01:59.101" v="41" actId="14100"/>
        <pc:sldMkLst>
          <pc:docMk/>
          <pc:sldMk cId="0" sldId="256"/>
        </pc:sldMkLst>
        <pc:spChg chg="mod">
          <ac:chgData name="Charlotte Espinosa" userId="7acdb581-490e-4296-b777-599da3832ba0" providerId="ADAL" clId="{41402486-EE7B-48FC-8D6C-7DF1F42E2DE6}" dt="2026-03-18T19:01:12.943" v="38" actId="1036"/>
          <ac:spMkLst>
            <pc:docMk/>
            <pc:sldMk cId="0" sldId="256"/>
            <ac:spMk id="8" creationId="{1A2B84D2-3ECD-445F-82FB-CDCE06DC46EB}"/>
          </ac:spMkLst>
        </pc:spChg>
        <pc:spChg chg="mod">
          <ac:chgData name="Charlotte Espinosa" userId="7acdb581-490e-4296-b777-599da3832ba0" providerId="ADAL" clId="{41402486-EE7B-48FC-8D6C-7DF1F42E2DE6}" dt="2026-03-18T19:00:15.636" v="0" actId="1076"/>
          <ac:spMkLst>
            <pc:docMk/>
            <pc:sldMk cId="0" sldId="256"/>
            <ac:spMk id="13" creationId="{E519824E-7EED-5F32-B9AD-B329C7744F52}"/>
          </ac:spMkLst>
        </pc:spChg>
        <pc:spChg chg="mod">
          <ac:chgData name="Charlotte Espinosa" userId="7acdb581-490e-4296-b777-599da3832ba0" providerId="ADAL" clId="{41402486-EE7B-48FC-8D6C-7DF1F42E2DE6}" dt="2026-03-18T19:01:12.943" v="38" actId="1036"/>
          <ac:spMkLst>
            <pc:docMk/>
            <pc:sldMk cId="0" sldId="256"/>
            <ac:spMk id="46" creationId="{00000000-0000-0000-0000-000000000000}"/>
          </ac:spMkLst>
        </pc:spChg>
        <pc:picChg chg="mod">
          <ac:chgData name="Charlotte Espinosa" userId="7acdb581-490e-4296-b777-599da3832ba0" providerId="ADAL" clId="{41402486-EE7B-48FC-8D6C-7DF1F42E2DE6}" dt="2026-03-18T19:00:32.633" v="1" actId="1076"/>
          <ac:picMkLst>
            <pc:docMk/>
            <pc:sldMk cId="0" sldId="256"/>
            <ac:picMk id="3" creationId="{DC454EC5-4725-4819-8ACB-B01C67FF9810}"/>
          </ac:picMkLst>
        </pc:picChg>
        <pc:picChg chg="mod">
          <ac:chgData name="Charlotte Espinosa" userId="7acdb581-490e-4296-b777-599da3832ba0" providerId="ADAL" clId="{41402486-EE7B-48FC-8D6C-7DF1F42E2DE6}" dt="2026-03-18T19:00:32.633" v="1" actId="1076"/>
          <ac:picMkLst>
            <pc:docMk/>
            <pc:sldMk cId="0" sldId="256"/>
            <ac:picMk id="15" creationId="{E2AFC490-AA51-474F-B71D-6E62DE99AFA1}"/>
          </ac:picMkLst>
        </pc:picChg>
        <pc:picChg chg="mod">
          <ac:chgData name="Charlotte Espinosa" userId="7acdb581-490e-4296-b777-599da3832ba0" providerId="ADAL" clId="{41402486-EE7B-48FC-8D6C-7DF1F42E2DE6}" dt="2026-03-18T19:00:47.595" v="2" actId="14100"/>
          <ac:picMkLst>
            <pc:docMk/>
            <pc:sldMk cId="0" sldId="256"/>
            <ac:picMk id="25" creationId="{4FD4BBFA-332D-09C7-EE49-0F26F28E2504}"/>
          </ac:picMkLst>
        </pc:picChg>
        <pc:picChg chg="mod">
          <ac:chgData name="Charlotte Espinosa" userId="7acdb581-490e-4296-b777-599da3832ba0" providerId="ADAL" clId="{41402486-EE7B-48FC-8D6C-7DF1F42E2DE6}" dt="2026-03-18T19:01:59.101" v="41" actId="14100"/>
          <ac:picMkLst>
            <pc:docMk/>
            <pc:sldMk cId="0" sldId="256"/>
            <ac:picMk id="36"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9156122" cy="1607238"/>
          </a:xfrm>
          <a:prstGeom prst="rect">
            <a:avLst/>
          </a:prstGeom>
          <a:noFill/>
          <a:ln>
            <a:noFill/>
          </a:ln>
        </p:spPr>
        <p:txBody>
          <a:bodyPr spcFirstLastPara="1" wrap="square" lIns="298638" tIns="149278" rIns="298638" bIns="149278" anchor="t" anchorCtr="0">
            <a:noAutofit/>
          </a:bodyPr>
          <a:lstStyle>
            <a:lvl1pPr marR="0" lvl="0"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11967130" y="0"/>
            <a:ext cx="9156122" cy="1607238"/>
          </a:xfrm>
          <a:prstGeom prst="rect">
            <a:avLst/>
          </a:prstGeom>
          <a:noFill/>
          <a:ln>
            <a:noFill/>
          </a:ln>
        </p:spPr>
        <p:txBody>
          <a:bodyPr spcFirstLastPara="1" wrap="square" lIns="298638" tIns="149278" rIns="298638" bIns="149278" anchor="t" anchorCtr="0">
            <a:noAutofit/>
          </a:bodyPr>
          <a:lstStyle>
            <a:lvl1pPr marR="0" lvl="0" algn="r"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255713" y="4017963"/>
            <a:ext cx="18616612" cy="108315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2111849" y="15447023"/>
            <a:ext cx="16904347" cy="12643957"/>
          </a:xfrm>
          <a:prstGeom prst="rect">
            <a:avLst/>
          </a:prstGeom>
          <a:noFill/>
          <a:ln>
            <a:noFill/>
          </a:ln>
        </p:spPr>
        <p:txBody>
          <a:bodyPr spcFirstLastPara="1" wrap="square" lIns="298638" tIns="149278" rIns="298638" bIns="149278"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30493608"/>
            <a:ext cx="9156122" cy="1607235"/>
          </a:xfrm>
          <a:prstGeom prst="rect">
            <a:avLst/>
          </a:prstGeom>
          <a:noFill/>
          <a:ln>
            <a:noFill/>
          </a:ln>
        </p:spPr>
        <p:txBody>
          <a:bodyPr spcFirstLastPara="1" wrap="square" lIns="298638" tIns="149278" rIns="298638" bIns="149278" anchor="b" anchorCtr="0">
            <a:noAutofit/>
          </a:bodyPr>
          <a:lstStyle>
            <a:lvl1pPr marR="0" lvl="0" algn="l" rtl="0">
              <a:lnSpc>
                <a:spcPct val="100000"/>
              </a:lnSpc>
              <a:spcBef>
                <a:spcPts val="0"/>
              </a:spcBef>
              <a:spcAft>
                <a:spcPts val="0"/>
              </a:spcAft>
              <a:buClr>
                <a:srgbClr val="000000"/>
              </a:buClr>
              <a:buSzPts val="1400"/>
              <a:buFont typeface="Arial"/>
              <a:buNone/>
              <a:defRPr sz="39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50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11967130" y="30493608"/>
            <a:ext cx="9156122" cy="1607235"/>
          </a:xfrm>
          <a:prstGeom prst="rect">
            <a:avLst/>
          </a:prstGeom>
          <a:noFill/>
          <a:ln>
            <a:noFill/>
          </a:ln>
        </p:spPr>
        <p:txBody>
          <a:bodyPr spcFirstLastPara="1" wrap="square" lIns="298638" tIns="149278" rIns="298638" bIns="149278" anchor="b" anchorCtr="0">
            <a:noAutofit/>
          </a:bodyPr>
          <a:lstStyle/>
          <a:p>
            <a:pPr algn="r">
              <a:buSzPts val="1200"/>
            </a:pPr>
            <a:fld id="{00000000-1234-1234-1234-123412341234}" type="slidenum">
              <a:rPr lang="en-US" sz="3900" smtClean="0">
                <a:solidFill>
                  <a:schemeClr val="dk1"/>
                </a:solidFill>
                <a:latin typeface="Calibri"/>
                <a:ea typeface="Calibri"/>
                <a:cs typeface="Calibri"/>
                <a:sym typeface="Calibri"/>
              </a:rPr>
              <a:pPr algn="r">
                <a:buSzPts val="1200"/>
              </a:pPr>
              <a:t>‹#›</a:t>
            </a:fld>
            <a:endParaRPr lang="en-US" sz="39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03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1:notes"/>
          <p:cNvSpPr txBox="1">
            <a:spLocks noGrp="1"/>
          </p:cNvSpPr>
          <p:nvPr>
            <p:ph type="body" idx="1"/>
          </p:nvPr>
        </p:nvSpPr>
        <p:spPr>
          <a:xfrm>
            <a:off x="2111849" y="15447023"/>
            <a:ext cx="16904347" cy="12643957"/>
          </a:xfrm>
          <a:prstGeom prst="rect">
            <a:avLst/>
          </a:prstGeom>
          <a:noFill/>
          <a:ln>
            <a:noFill/>
          </a:ln>
        </p:spPr>
        <p:txBody>
          <a:bodyPr spcFirstLastPara="1" wrap="square" lIns="298638" tIns="149278" rIns="298638" bIns="149278" anchor="t" anchorCtr="0">
            <a:noAutofit/>
          </a:bodyPr>
          <a:lstStyle/>
          <a:p>
            <a:pPr marL="0" indent="0"/>
            <a:endParaRPr dirty="0"/>
          </a:p>
        </p:txBody>
      </p:sp>
      <p:sp>
        <p:nvSpPr>
          <p:cNvPr id="33" name="Google Shape;33;p1:notes"/>
          <p:cNvSpPr>
            <a:spLocks noGrp="1" noRot="1" noChangeAspect="1"/>
          </p:cNvSpPr>
          <p:nvPr>
            <p:ph type="sldImg" idx="2"/>
          </p:nvPr>
        </p:nvSpPr>
        <p:spPr>
          <a:xfrm>
            <a:off x="1255713" y="4017963"/>
            <a:ext cx="18616612" cy="1083151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3"/>
          <p:cNvSpPr/>
          <p:nvPr/>
        </p:nvSpPr>
        <p:spPr>
          <a:xfrm>
            <a:off x="49453798" y="0"/>
            <a:ext cx="838200" cy="29260800"/>
          </a:xfrm>
          <a:prstGeom prst="rect">
            <a:avLst/>
          </a:prstGeom>
          <a:solidFill>
            <a:srgbClr val="DCDCDC"/>
          </a:solidFill>
          <a:ln>
            <a:noFill/>
          </a:ln>
        </p:spPr>
        <p:txBody>
          <a:bodyPr spcFirstLastPara="1" wrap="square" lIns="48950" tIns="24475" rIns="48950" bIns="24475" anchor="ctr" anchorCtr="0">
            <a:noAutofit/>
          </a:bodyPr>
          <a:lstStyle/>
          <a:p>
            <a:pPr marL="0" marR="0" lvl="0" indent="0" algn="ctr" rtl="0">
              <a:lnSpc>
                <a:spcPct val="100000"/>
              </a:lnSpc>
              <a:spcBef>
                <a:spcPts val="0"/>
              </a:spcBef>
              <a:spcAft>
                <a:spcPts val="0"/>
              </a:spcAft>
              <a:buClr>
                <a:srgbClr val="000000"/>
              </a:buClr>
              <a:buSzPts val="4600"/>
              <a:buFont typeface="Arial"/>
              <a:buNone/>
            </a:pPr>
            <a:endParaRPr sz="4600" b="0" i="0" u="none" strike="noStrike" cap="none">
              <a:solidFill>
                <a:schemeClr val="lt1"/>
              </a:solidFill>
              <a:latin typeface="Calibri"/>
              <a:ea typeface="Calibri"/>
              <a:cs typeface="Calibri"/>
              <a:sym typeface="Calibri"/>
            </a:endParaRPr>
          </a:p>
        </p:txBody>
      </p:sp>
      <p:sp>
        <p:nvSpPr>
          <p:cNvPr id="17" name="Google Shape;17;p3"/>
          <p:cNvSpPr/>
          <p:nvPr/>
        </p:nvSpPr>
        <p:spPr>
          <a:xfrm>
            <a:off x="-3" y="0"/>
            <a:ext cx="838200" cy="29260800"/>
          </a:xfrm>
          <a:prstGeom prst="rect">
            <a:avLst/>
          </a:prstGeom>
          <a:solidFill>
            <a:srgbClr val="DCDCDC"/>
          </a:solidFill>
          <a:ln>
            <a:noFill/>
          </a:ln>
        </p:spPr>
        <p:txBody>
          <a:bodyPr spcFirstLastPara="1" wrap="square" lIns="48950" tIns="24475" rIns="48950" bIns="24475" anchor="ctr" anchorCtr="0">
            <a:noAutofit/>
          </a:bodyPr>
          <a:lstStyle/>
          <a:p>
            <a:pPr marL="0" marR="0" lvl="0" indent="0" algn="ctr" rtl="0">
              <a:lnSpc>
                <a:spcPct val="100000"/>
              </a:lnSpc>
              <a:spcBef>
                <a:spcPts val="0"/>
              </a:spcBef>
              <a:spcAft>
                <a:spcPts val="0"/>
              </a:spcAft>
              <a:buClr>
                <a:srgbClr val="000000"/>
              </a:buClr>
              <a:buSzPts val="4600"/>
              <a:buFont typeface="Arial"/>
              <a:buNone/>
            </a:pPr>
            <a:endParaRPr sz="4600" b="0" i="0" u="none" strike="noStrike" cap="none">
              <a:solidFill>
                <a:schemeClr val="lt1"/>
              </a:solidFill>
              <a:latin typeface="Calibri"/>
              <a:ea typeface="Calibri"/>
              <a:cs typeface="Calibri"/>
              <a:sym typeface="Calibri"/>
            </a:endParaRPr>
          </a:p>
        </p:txBody>
      </p:sp>
      <p:sp>
        <p:nvSpPr>
          <p:cNvPr id="18" name="Google Shape;18;p3"/>
          <p:cNvSpPr/>
          <p:nvPr/>
        </p:nvSpPr>
        <p:spPr>
          <a:xfrm>
            <a:off x="2" y="0"/>
            <a:ext cx="50292002" cy="3657600"/>
          </a:xfrm>
          <a:prstGeom prst="rect">
            <a:avLst/>
          </a:prstGeom>
          <a:solidFill>
            <a:srgbClr val="366092"/>
          </a:solidFill>
          <a:ln>
            <a:noFill/>
          </a:ln>
        </p:spPr>
        <p:txBody>
          <a:bodyPr spcFirstLastPara="1" wrap="square" lIns="48950" tIns="24475" rIns="48950" bIns="24475" anchor="ctr" anchorCtr="0">
            <a:noAutofit/>
          </a:bodyPr>
          <a:lstStyle/>
          <a:p>
            <a:pPr marL="0" marR="0" lvl="0" indent="0" algn="ctr" rtl="0">
              <a:lnSpc>
                <a:spcPct val="100000"/>
              </a:lnSpc>
              <a:spcBef>
                <a:spcPts val="0"/>
              </a:spcBef>
              <a:spcAft>
                <a:spcPts val="0"/>
              </a:spcAft>
              <a:buClr>
                <a:srgbClr val="000000"/>
              </a:buClr>
              <a:buSzPts val="4600"/>
              <a:buFont typeface="Arial"/>
              <a:buNone/>
            </a:pPr>
            <a:endParaRPr sz="4600" b="0" i="0" u="none" strike="noStrike" cap="none">
              <a:solidFill>
                <a:schemeClr val="lt1"/>
              </a:solidFill>
              <a:latin typeface="Calibri"/>
              <a:ea typeface="Calibri"/>
              <a:cs typeface="Calibri"/>
              <a:sym typeface="Calibri"/>
            </a:endParaRPr>
          </a:p>
        </p:txBody>
      </p:sp>
      <p:sp>
        <p:nvSpPr>
          <p:cNvPr id="19" name="Google Shape;19;p3"/>
          <p:cNvSpPr/>
          <p:nvPr/>
        </p:nvSpPr>
        <p:spPr>
          <a:xfrm>
            <a:off x="2" y="25603200"/>
            <a:ext cx="50292002" cy="3657600"/>
          </a:xfrm>
          <a:prstGeom prst="rect">
            <a:avLst/>
          </a:prstGeom>
          <a:solidFill>
            <a:srgbClr val="B7CCE4"/>
          </a:solidFill>
          <a:ln>
            <a:noFill/>
          </a:ln>
        </p:spPr>
        <p:txBody>
          <a:bodyPr spcFirstLastPara="1" wrap="square" lIns="48950" tIns="24475" rIns="48950" bIns="24475" anchor="ctr" anchorCtr="0">
            <a:noAutofit/>
          </a:bodyPr>
          <a:lstStyle/>
          <a:p>
            <a:pPr marL="0" marR="0" lvl="0" indent="0" algn="ctr" rtl="0">
              <a:lnSpc>
                <a:spcPct val="100000"/>
              </a:lnSpc>
              <a:spcBef>
                <a:spcPts val="0"/>
              </a:spcBef>
              <a:spcAft>
                <a:spcPts val="0"/>
              </a:spcAft>
              <a:buClr>
                <a:srgbClr val="000000"/>
              </a:buClr>
              <a:buSzPts val="4600"/>
              <a:buFont typeface="Arial"/>
              <a:buNone/>
            </a:pPr>
            <a:endParaRPr sz="4600" b="0" i="0" u="none" strike="noStrike" cap="none">
              <a:solidFill>
                <a:schemeClr val="lt1"/>
              </a:solidFill>
              <a:latin typeface="Calibri"/>
              <a:ea typeface="Calibri"/>
              <a:cs typeface="Calibri"/>
              <a:sym typeface="Calibri"/>
            </a:endParaRPr>
          </a:p>
        </p:txBody>
      </p:sp>
      <p:sp>
        <p:nvSpPr>
          <p:cNvPr id="20" name="Google Shape;20;p3"/>
          <p:cNvSpPr/>
          <p:nvPr/>
        </p:nvSpPr>
        <p:spPr>
          <a:xfrm>
            <a:off x="-11734800" y="0"/>
            <a:ext cx="10896600" cy="29260800"/>
          </a:xfrm>
          <a:prstGeom prst="rect">
            <a:avLst/>
          </a:prstGeom>
          <a:solidFill>
            <a:srgbClr val="D8D8D8"/>
          </a:solidFill>
          <a:ln>
            <a:noFill/>
          </a:ln>
        </p:spPr>
        <p:txBody>
          <a:bodyPr spcFirstLastPara="1" wrap="square" lIns="122425" tIns="122425" rIns="122425" bIns="122425" anchor="t" anchorCtr="0">
            <a:noAutofit/>
          </a:bodyPr>
          <a:lstStyle/>
          <a:p>
            <a:pPr marL="0" marR="0" lvl="0" indent="0" algn="l" rtl="0">
              <a:lnSpc>
                <a:spcPct val="100000"/>
              </a:lnSpc>
              <a:spcBef>
                <a:spcPts val="0"/>
              </a:spcBef>
              <a:spcAft>
                <a:spcPts val="0"/>
              </a:spcAft>
              <a:buClr>
                <a:srgbClr val="000000"/>
              </a:buClr>
              <a:buSzPts val="4700"/>
              <a:buFont typeface="Arial"/>
              <a:buNone/>
            </a:pPr>
            <a:r>
              <a:rPr lang="en-US" sz="4700" b="0" i="0" u="none" strike="noStrike" cap="none">
                <a:solidFill>
                  <a:srgbClr val="7F7F7F"/>
                </a:solidFill>
                <a:latin typeface="Calibri"/>
                <a:ea typeface="Calibri"/>
                <a:cs typeface="Calibri"/>
                <a:sym typeface="Calibri"/>
              </a:rPr>
              <a:t>Poster Print Size:</a:t>
            </a:r>
            <a:endParaRPr sz="4700" b="0" i="0" u="none" strike="noStrike" cap="none">
              <a:solidFill>
                <a:srgbClr val="7F7F7F"/>
              </a:solidFill>
              <a:latin typeface="Calibri"/>
              <a:ea typeface="Calibri"/>
              <a:cs typeface="Calibri"/>
              <a:sym typeface="Calibri"/>
            </a:endParaRPr>
          </a:p>
          <a:p>
            <a:pPr marL="0" marR="0" lvl="0" indent="0" algn="l" rtl="0">
              <a:lnSpc>
                <a:spcPct val="100000"/>
              </a:lnSpc>
              <a:spcBef>
                <a:spcPts val="1286"/>
              </a:spcBef>
              <a:spcAft>
                <a:spcPts val="0"/>
              </a:spcAft>
              <a:buClr>
                <a:srgbClr val="000000"/>
              </a:buClr>
              <a:buSzPts val="3300"/>
              <a:buFont typeface="Arial"/>
              <a:buNone/>
            </a:pPr>
            <a:r>
              <a:rPr lang="en-US" sz="3300" b="0" i="0" u="none" strike="noStrike" cap="none">
                <a:solidFill>
                  <a:srgbClr val="7F7F7F"/>
                </a:solidFill>
                <a:latin typeface="Calibri"/>
                <a:ea typeface="Calibri"/>
                <a:cs typeface="Calibri"/>
                <a:sym typeface="Calibri"/>
              </a:rPr>
              <a:t>This poster template is 24” high by 36” wide. It can be used to print any poster with a 2:3 aspect ratio including 36x54 and 48x72.</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86"/>
              </a:spcBef>
              <a:spcAft>
                <a:spcPts val="0"/>
              </a:spcAft>
              <a:buClr>
                <a:srgbClr val="000000"/>
              </a:buClr>
              <a:buSzPts val="4700"/>
              <a:buFont typeface="Arial"/>
              <a:buNone/>
            </a:pPr>
            <a:r>
              <a:rPr lang="en-US" sz="4700" b="0" i="0" u="none" strike="noStrike" cap="none">
                <a:solidFill>
                  <a:srgbClr val="7F7F7F"/>
                </a:solidFill>
                <a:latin typeface="Calibri"/>
                <a:ea typeface="Calibri"/>
                <a:cs typeface="Calibri"/>
                <a:sym typeface="Calibri"/>
              </a:rPr>
              <a:t>Placeholders:</a:t>
            </a:r>
            <a:endParaRPr sz="4700" b="0" i="0" u="none" strike="noStrike" cap="none">
              <a:solidFill>
                <a:srgbClr val="7F7F7F"/>
              </a:solidFill>
              <a:latin typeface="Calibri"/>
              <a:ea typeface="Calibri"/>
              <a:cs typeface="Calibri"/>
              <a:sym typeface="Calibri"/>
            </a:endParaRPr>
          </a:p>
          <a:p>
            <a:pPr marL="0" marR="0" lvl="0" indent="0" algn="l" rtl="0">
              <a:lnSpc>
                <a:spcPct val="100000"/>
              </a:lnSpc>
              <a:spcBef>
                <a:spcPts val="1286"/>
              </a:spcBef>
              <a:spcAft>
                <a:spcPts val="0"/>
              </a:spcAft>
              <a:buClr>
                <a:srgbClr val="000000"/>
              </a:buClr>
              <a:buSzPts val="3300"/>
              <a:buFont typeface="Arial"/>
              <a:buNone/>
            </a:pPr>
            <a:r>
              <a:rPr lang="en-US" sz="3300" b="0" i="0" u="none" strike="noStrike" cap="none">
                <a:solidFill>
                  <a:srgbClr val="7F7F7F"/>
                </a:solidFill>
                <a:latin typeface="Calibri"/>
                <a:ea typeface="Calibri"/>
                <a:cs typeface="Calibri"/>
                <a:sym typeface="Calibri"/>
              </a:rPr>
              <a:t>The various elements included in this poster are ones we often see in medical, research, and scientific posters. Feel free to edit, move,  add, and delete items, or change the layout to suit your needs. Always check with your conference organizer for specific requirements.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86"/>
              </a:spcBef>
              <a:spcAft>
                <a:spcPts val="0"/>
              </a:spcAft>
              <a:buClr>
                <a:srgbClr val="000000"/>
              </a:buClr>
              <a:buSzPts val="4700"/>
              <a:buFont typeface="Arial"/>
              <a:buNone/>
            </a:pPr>
            <a:r>
              <a:rPr lang="en-US" sz="4700" b="0" i="0" u="none" strike="noStrike" cap="none">
                <a:solidFill>
                  <a:srgbClr val="7F7F7F"/>
                </a:solidFill>
                <a:latin typeface="Calibri"/>
                <a:ea typeface="Calibri"/>
                <a:cs typeface="Calibri"/>
                <a:sym typeface="Calibri"/>
              </a:rPr>
              <a:t>Image Quality: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86"/>
              </a:spcBef>
              <a:spcAft>
                <a:spcPts val="0"/>
              </a:spcAft>
              <a:buClr>
                <a:srgbClr val="000000"/>
              </a:buClr>
              <a:buSzPts val="3300"/>
              <a:buFont typeface="Arial"/>
              <a:buNone/>
            </a:pPr>
            <a:r>
              <a:rPr lang="en-US" sz="3300" b="0" i="0" u="none" strike="noStrike" cap="none">
                <a:solidFill>
                  <a:srgbClr val="7F7F7F"/>
                </a:solidFill>
                <a:latin typeface="Calibri"/>
                <a:ea typeface="Calibri"/>
                <a:cs typeface="Calibri"/>
                <a:sym typeface="Calibri"/>
              </a:rPr>
              <a:t>You can place digital photos or logo art in your poster file by selecting the </a:t>
            </a:r>
            <a:r>
              <a:rPr lang="en-US" sz="3300" b="1" i="0" u="none" strike="noStrike" cap="none">
                <a:solidFill>
                  <a:srgbClr val="7F7F7F"/>
                </a:solidFill>
                <a:latin typeface="Calibri"/>
                <a:ea typeface="Calibri"/>
                <a:cs typeface="Calibri"/>
                <a:sym typeface="Calibri"/>
              </a:rPr>
              <a:t>Insert, Picture</a:t>
            </a:r>
            <a:r>
              <a:rPr lang="en-US" sz="3300" b="0" i="0" u="none" strike="noStrike" cap="none">
                <a:solidFill>
                  <a:srgbClr val="7F7F7F"/>
                </a:solidFill>
                <a:latin typeface="Calibri"/>
                <a:ea typeface="Calibri"/>
                <a:cs typeface="Calibri"/>
                <a:sym typeface="Calibri"/>
              </a:rPr>
              <a:t> command, or by using standard copy &amp; paste. For best results, all graphic elements should be at least </a:t>
            </a:r>
            <a:r>
              <a:rPr lang="en-US" sz="3300" b="1" i="0" u="none" strike="noStrike" cap="none">
                <a:solidFill>
                  <a:srgbClr val="7F7F7F"/>
                </a:solidFill>
                <a:latin typeface="Calibri"/>
                <a:ea typeface="Calibri"/>
                <a:cs typeface="Calibri"/>
                <a:sym typeface="Calibri"/>
              </a:rPr>
              <a:t>150-200 pixels per inch in their final printed size</a:t>
            </a:r>
            <a:r>
              <a:rPr lang="en-US" sz="3300" b="0" i="0" u="none" strike="noStrike" cap="none">
                <a:solidFill>
                  <a:srgbClr val="7F7F7F"/>
                </a:solidFill>
                <a:latin typeface="Calibri"/>
                <a:ea typeface="Calibri"/>
                <a:cs typeface="Calibri"/>
                <a:sym typeface="Calibri"/>
              </a:rPr>
              <a:t>. For instance, a 1600 x 1200 pixel photo will usually look fine up to 8“-10” wide on your printed poster.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86"/>
              </a:spcBef>
              <a:spcAft>
                <a:spcPts val="0"/>
              </a:spcAft>
              <a:buClr>
                <a:srgbClr val="000000"/>
              </a:buClr>
              <a:buSzPts val="3300"/>
              <a:buFont typeface="Arial"/>
              <a:buNone/>
            </a:pPr>
            <a:r>
              <a:rPr lang="en-US" sz="3300" b="0" i="0" u="none" strike="noStrike" cap="none">
                <a:solidFill>
                  <a:srgbClr val="7F7F7F"/>
                </a:solidFill>
                <a:latin typeface="Calibri"/>
                <a:ea typeface="Calibri"/>
                <a:cs typeface="Calibri"/>
                <a:sym typeface="Calibri"/>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86"/>
              </a:spcBef>
              <a:spcAft>
                <a:spcPts val="0"/>
              </a:spcAft>
              <a:buClr>
                <a:srgbClr val="000000"/>
              </a:buClr>
              <a:buSzPts val="3300"/>
              <a:buFont typeface="Arial"/>
              <a:buNone/>
            </a:pPr>
            <a:r>
              <a:rPr lang="en-US" sz="3300" b="0" i="0" u="none" strike="noStrike" cap="none">
                <a:solidFill>
                  <a:srgbClr val="7F7F7F"/>
                </a:solidFill>
                <a:latin typeface="Calibri"/>
                <a:ea typeface="Calibri"/>
                <a:cs typeface="Calibri"/>
                <a:sym typeface="Calibri"/>
              </a:rPr>
              <a:t>Please note that graphics from websites (such as the logo on your hospital's or university's home page) will only be 72dpi and not suitable for printing.</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1286"/>
              </a:spcBef>
              <a:spcAft>
                <a:spcPts val="0"/>
              </a:spcAft>
              <a:buClr>
                <a:srgbClr val="000000"/>
              </a:buClr>
              <a:buSzPts val="2400"/>
              <a:buFont typeface="Arial"/>
              <a:buNone/>
            </a:pPr>
            <a:br>
              <a:rPr lang="en-US" sz="2400" b="0" i="0" u="none" strike="noStrike" cap="none">
                <a:solidFill>
                  <a:srgbClr val="7F7F7F"/>
                </a:solidFill>
                <a:latin typeface="Calibri"/>
                <a:ea typeface="Calibri"/>
                <a:cs typeface="Calibri"/>
                <a:sym typeface="Calibri"/>
              </a:rPr>
            </a:br>
            <a:r>
              <a:rPr lang="en-US" sz="2400" b="0" i="0" u="none" strike="noStrike" cap="none">
                <a:solidFill>
                  <a:srgbClr val="7F7F7F"/>
                </a:solidFill>
                <a:latin typeface="Calibri"/>
                <a:ea typeface="Calibri"/>
                <a:cs typeface="Calibri"/>
                <a:sym typeface="Calibri"/>
              </a:rPr>
              <a:t>[This sidebar area does not print.]</a:t>
            </a:r>
            <a:endParaRPr sz="1400" b="0" i="0" u="none" strike="noStrike" cap="none">
              <a:solidFill>
                <a:srgbClr val="000000"/>
              </a:solidFill>
              <a:latin typeface="Arial"/>
              <a:ea typeface="Arial"/>
              <a:cs typeface="Arial"/>
              <a:sym typeface="Arial"/>
            </a:endParaRPr>
          </a:p>
        </p:txBody>
      </p:sp>
      <p:grpSp>
        <p:nvGrpSpPr>
          <p:cNvPr id="21" name="Google Shape;21;p3"/>
          <p:cNvGrpSpPr/>
          <p:nvPr/>
        </p:nvGrpSpPr>
        <p:grpSpPr>
          <a:xfrm>
            <a:off x="51130200" y="0"/>
            <a:ext cx="10896600" cy="29260800"/>
            <a:chOff x="33832800" y="0"/>
            <a:chExt cx="12801600" cy="43891199"/>
          </a:xfrm>
        </p:grpSpPr>
        <p:sp>
          <p:nvSpPr>
            <p:cNvPr id="22" name="Google Shape;22;p3"/>
            <p:cNvSpPr/>
            <p:nvPr/>
          </p:nvSpPr>
          <p:spPr>
            <a:xfrm>
              <a:off x="33832800" y="0"/>
              <a:ext cx="12801600" cy="43891199"/>
            </a:xfrm>
            <a:prstGeom prst="rect">
              <a:avLst/>
            </a:prstGeom>
            <a:solidFill>
              <a:srgbClr val="D8D8D8"/>
            </a:solidFill>
            <a:ln>
              <a:noFill/>
            </a:ln>
          </p:spPr>
          <p:txBody>
            <a:bodyPr spcFirstLastPara="1" wrap="square" lIns="228600" tIns="228600" rIns="228600" bIns="228600" anchor="t" anchorCtr="0">
              <a:noAutofit/>
            </a:bodyPr>
            <a:lstStyle/>
            <a:p>
              <a:pPr marL="0" marR="0" lvl="0" indent="0" algn="l" rtl="0">
                <a:lnSpc>
                  <a:spcPct val="100000"/>
                </a:lnSpc>
                <a:spcBef>
                  <a:spcPts val="0"/>
                </a:spcBef>
                <a:spcAft>
                  <a:spcPts val="0"/>
                </a:spcAft>
                <a:buClr>
                  <a:srgbClr val="000000"/>
                </a:buClr>
                <a:buSzPts val="4700"/>
                <a:buFont typeface="Arial"/>
                <a:buNone/>
              </a:pPr>
              <a:r>
                <a:rPr lang="en-US" sz="4700" b="0" i="0" u="none" strike="noStrike" cap="none">
                  <a:solidFill>
                    <a:srgbClr val="7F7F7F"/>
                  </a:solidFill>
                  <a:latin typeface="Calibri"/>
                  <a:ea typeface="Calibri"/>
                  <a:cs typeface="Calibri"/>
                  <a:sym typeface="Calibri"/>
                </a:rPr>
                <a:t>Change Color Theme:</a:t>
              </a:r>
              <a:endParaRPr sz="4700" b="0" i="0" u="none" strike="noStrike" cap="none">
                <a:solidFill>
                  <a:srgbClr val="7F7F7F"/>
                </a:solidFill>
                <a:latin typeface="Calibri"/>
                <a:ea typeface="Calibri"/>
                <a:cs typeface="Calibri"/>
                <a:sym typeface="Calibri"/>
              </a:endParaRPr>
            </a:p>
            <a:p>
              <a:pPr marL="0" marR="0" lvl="0" indent="0" algn="l" rtl="0">
                <a:lnSpc>
                  <a:spcPct val="100000"/>
                </a:lnSpc>
                <a:spcBef>
                  <a:spcPts val="1286"/>
                </a:spcBef>
                <a:spcAft>
                  <a:spcPts val="0"/>
                </a:spcAft>
                <a:buClr>
                  <a:srgbClr val="000000"/>
                </a:buClr>
                <a:buSzPts val="3300"/>
                <a:buFont typeface="Arial"/>
                <a:buNone/>
              </a:pPr>
              <a:r>
                <a:rPr lang="en-US" sz="3300" b="0" i="0" u="none" strike="noStrike" cap="none">
                  <a:solidFill>
                    <a:srgbClr val="7F7F7F"/>
                  </a:solidFill>
                  <a:latin typeface="Calibri"/>
                  <a:ea typeface="Calibri"/>
                  <a:cs typeface="Calibri"/>
                  <a:sym typeface="Calibri"/>
                </a:rPr>
                <a:t>This template is designed to use the built-in color themes in the newer versions of PowerPoint.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86"/>
                </a:spcBef>
                <a:spcAft>
                  <a:spcPts val="0"/>
                </a:spcAft>
                <a:buClr>
                  <a:srgbClr val="000000"/>
                </a:buClr>
                <a:buSzPts val="3300"/>
                <a:buFont typeface="Arial"/>
                <a:buNone/>
              </a:pPr>
              <a:r>
                <a:rPr lang="en-US" sz="3300" b="0" i="0" u="none" strike="noStrike" cap="none">
                  <a:solidFill>
                    <a:srgbClr val="7F7F7F"/>
                  </a:solidFill>
                  <a:latin typeface="Calibri"/>
                  <a:ea typeface="Calibri"/>
                  <a:cs typeface="Calibri"/>
                  <a:sym typeface="Calibri"/>
                </a:rPr>
                <a:t>To change the color theme, select the </a:t>
              </a:r>
              <a:r>
                <a:rPr lang="en-US" sz="3300" b="1" i="0" u="none" strike="noStrike" cap="none">
                  <a:solidFill>
                    <a:srgbClr val="7F7F7F"/>
                  </a:solidFill>
                  <a:latin typeface="Calibri"/>
                  <a:ea typeface="Calibri"/>
                  <a:cs typeface="Calibri"/>
                  <a:sym typeface="Calibri"/>
                </a:rPr>
                <a:t>Design</a:t>
              </a:r>
              <a:r>
                <a:rPr lang="en-US" sz="3300" b="0" i="0" u="none" strike="noStrike" cap="none">
                  <a:solidFill>
                    <a:srgbClr val="7F7F7F"/>
                  </a:solidFill>
                  <a:latin typeface="Calibri"/>
                  <a:ea typeface="Calibri"/>
                  <a:cs typeface="Calibri"/>
                  <a:sym typeface="Calibri"/>
                </a:rPr>
                <a:t> tab, then select the </a:t>
              </a:r>
              <a:r>
                <a:rPr lang="en-US" sz="3300" b="1" i="0" u="none" strike="noStrike" cap="none">
                  <a:solidFill>
                    <a:srgbClr val="7F7F7F"/>
                  </a:solidFill>
                  <a:latin typeface="Calibri"/>
                  <a:ea typeface="Calibri"/>
                  <a:cs typeface="Calibri"/>
                  <a:sym typeface="Calibri"/>
                </a:rPr>
                <a:t>Colors</a:t>
              </a:r>
              <a:r>
                <a:rPr lang="en-US" sz="3300" b="0" i="0" u="none" strike="noStrike" cap="none">
                  <a:solidFill>
                    <a:srgbClr val="7F7F7F"/>
                  </a:solidFill>
                  <a:latin typeface="Calibri"/>
                  <a:ea typeface="Calibri"/>
                  <a:cs typeface="Calibri"/>
                  <a:sym typeface="Calibri"/>
                </a:rPr>
                <a:t> drop-down list.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86"/>
                </a:spcBef>
                <a:spcAft>
                  <a:spcPts val="0"/>
                </a:spcAft>
                <a:buClr>
                  <a:srgbClr val="000000"/>
                </a:buClr>
                <a:buSzPts val="4800"/>
                <a:buFont typeface="Arial"/>
                <a:buNone/>
              </a:pPr>
              <a:endParaRPr sz="4800" b="0" i="0" u="none" strike="noStrike" cap="none">
                <a:solidFill>
                  <a:srgbClr val="7F7F7F"/>
                </a:solidFill>
                <a:latin typeface="Calibri"/>
                <a:ea typeface="Calibri"/>
                <a:cs typeface="Calibri"/>
                <a:sym typeface="Calibri"/>
              </a:endParaRPr>
            </a:p>
            <a:p>
              <a:pPr marL="0" marR="0" lvl="0" indent="0" algn="l" rtl="0">
                <a:lnSpc>
                  <a:spcPct val="100000"/>
                </a:lnSpc>
                <a:spcBef>
                  <a:spcPts val="1286"/>
                </a:spcBef>
                <a:spcAft>
                  <a:spcPts val="0"/>
                </a:spcAft>
                <a:buClr>
                  <a:srgbClr val="000000"/>
                </a:buClr>
                <a:buSzPts val="3300"/>
                <a:buFont typeface="Arial"/>
                <a:buNone/>
              </a:pPr>
              <a:endParaRPr sz="3300" b="0" i="0" u="none" strike="noStrike" cap="none">
                <a:solidFill>
                  <a:srgbClr val="7F7F7F"/>
                </a:solidFill>
                <a:latin typeface="Calibri"/>
                <a:ea typeface="Calibri"/>
                <a:cs typeface="Calibri"/>
                <a:sym typeface="Calibri"/>
              </a:endParaRPr>
            </a:p>
            <a:p>
              <a:pPr marL="0" marR="0" lvl="0" indent="0" algn="l" rtl="0">
                <a:lnSpc>
                  <a:spcPct val="100000"/>
                </a:lnSpc>
                <a:spcBef>
                  <a:spcPts val="1286"/>
                </a:spcBef>
                <a:spcAft>
                  <a:spcPts val="0"/>
                </a:spcAft>
                <a:buClr>
                  <a:srgbClr val="000000"/>
                </a:buClr>
                <a:buSzPts val="3300"/>
                <a:buFont typeface="Arial"/>
                <a:buNone/>
              </a:pPr>
              <a:endParaRPr sz="3300" b="0" i="0" u="none" strike="noStrike" cap="none">
                <a:solidFill>
                  <a:srgbClr val="7F7F7F"/>
                </a:solidFill>
                <a:latin typeface="Calibri"/>
                <a:ea typeface="Calibri"/>
                <a:cs typeface="Calibri"/>
                <a:sym typeface="Calibri"/>
              </a:endParaRPr>
            </a:p>
            <a:p>
              <a:pPr marL="0" marR="0" lvl="0" indent="0" algn="l" rtl="0">
                <a:lnSpc>
                  <a:spcPct val="100000"/>
                </a:lnSpc>
                <a:spcBef>
                  <a:spcPts val="1286"/>
                </a:spcBef>
                <a:spcAft>
                  <a:spcPts val="0"/>
                </a:spcAft>
                <a:buClr>
                  <a:srgbClr val="000000"/>
                </a:buClr>
                <a:buSzPts val="3300"/>
                <a:buFont typeface="Arial"/>
                <a:buNone/>
              </a:pPr>
              <a:endParaRPr sz="3300" b="0" i="0" u="none" strike="noStrike" cap="none">
                <a:solidFill>
                  <a:srgbClr val="7F7F7F"/>
                </a:solidFill>
                <a:latin typeface="Calibri"/>
                <a:ea typeface="Calibri"/>
                <a:cs typeface="Calibri"/>
                <a:sym typeface="Calibri"/>
              </a:endParaRPr>
            </a:p>
            <a:p>
              <a:pPr marL="0" marR="0" lvl="0" indent="0" algn="l" rtl="0">
                <a:lnSpc>
                  <a:spcPct val="100000"/>
                </a:lnSpc>
                <a:spcBef>
                  <a:spcPts val="1286"/>
                </a:spcBef>
                <a:spcAft>
                  <a:spcPts val="0"/>
                </a:spcAft>
                <a:buClr>
                  <a:srgbClr val="000000"/>
                </a:buClr>
                <a:buSzPts val="3300"/>
                <a:buFont typeface="Arial"/>
                <a:buNone/>
              </a:pPr>
              <a:endParaRPr sz="3300" b="0" i="0" u="none" strike="noStrike" cap="none">
                <a:solidFill>
                  <a:srgbClr val="7F7F7F"/>
                </a:solidFill>
                <a:latin typeface="Calibri"/>
                <a:ea typeface="Calibri"/>
                <a:cs typeface="Calibri"/>
                <a:sym typeface="Calibri"/>
              </a:endParaRPr>
            </a:p>
            <a:p>
              <a:pPr marL="0" marR="0" lvl="0" indent="0" algn="l" rtl="0">
                <a:lnSpc>
                  <a:spcPct val="100000"/>
                </a:lnSpc>
                <a:spcBef>
                  <a:spcPts val="1286"/>
                </a:spcBef>
                <a:spcAft>
                  <a:spcPts val="0"/>
                </a:spcAft>
                <a:buClr>
                  <a:srgbClr val="000000"/>
                </a:buClr>
                <a:buSzPts val="3300"/>
                <a:buFont typeface="Arial"/>
                <a:buNone/>
              </a:pPr>
              <a:endParaRPr sz="3300" b="0" i="0" u="none" strike="noStrike" cap="none">
                <a:solidFill>
                  <a:srgbClr val="7F7F7F"/>
                </a:solidFill>
                <a:latin typeface="Calibri"/>
                <a:ea typeface="Calibri"/>
                <a:cs typeface="Calibri"/>
                <a:sym typeface="Calibri"/>
              </a:endParaRPr>
            </a:p>
            <a:p>
              <a:pPr marL="0" marR="0" lvl="0" indent="0" algn="l" rtl="0">
                <a:lnSpc>
                  <a:spcPct val="100000"/>
                </a:lnSpc>
                <a:spcBef>
                  <a:spcPts val="1286"/>
                </a:spcBef>
                <a:spcAft>
                  <a:spcPts val="0"/>
                </a:spcAft>
                <a:buClr>
                  <a:srgbClr val="000000"/>
                </a:buClr>
                <a:buSzPts val="3300"/>
                <a:buFont typeface="Arial"/>
                <a:buNone/>
              </a:pPr>
              <a:endParaRPr sz="3300" b="0" i="0" u="none" strike="noStrike" cap="none">
                <a:solidFill>
                  <a:srgbClr val="7F7F7F"/>
                </a:solidFill>
                <a:latin typeface="Calibri"/>
                <a:ea typeface="Calibri"/>
                <a:cs typeface="Calibri"/>
                <a:sym typeface="Calibri"/>
              </a:endParaRPr>
            </a:p>
            <a:p>
              <a:pPr marL="0" marR="0" lvl="0" indent="0" algn="l" rtl="0">
                <a:lnSpc>
                  <a:spcPct val="100000"/>
                </a:lnSpc>
                <a:spcBef>
                  <a:spcPts val="1286"/>
                </a:spcBef>
                <a:spcAft>
                  <a:spcPts val="0"/>
                </a:spcAft>
                <a:buClr>
                  <a:srgbClr val="000000"/>
                </a:buClr>
                <a:buSzPts val="3300"/>
                <a:buFont typeface="Arial"/>
                <a:buNone/>
              </a:pPr>
              <a:endParaRPr sz="3300" b="0" i="0" u="none" strike="noStrike" cap="none">
                <a:solidFill>
                  <a:srgbClr val="7F7F7F"/>
                </a:solidFill>
                <a:latin typeface="Calibri"/>
                <a:ea typeface="Calibri"/>
                <a:cs typeface="Calibri"/>
                <a:sym typeface="Calibri"/>
              </a:endParaRPr>
            </a:p>
            <a:p>
              <a:pPr marL="0" marR="0" lvl="0" indent="0" algn="l" rtl="0">
                <a:lnSpc>
                  <a:spcPct val="100000"/>
                </a:lnSpc>
                <a:spcBef>
                  <a:spcPts val="1286"/>
                </a:spcBef>
                <a:spcAft>
                  <a:spcPts val="0"/>
                </a:spcAft>
                <a:buClr>
                  <a:srgbClr val="000000"/>
                </a:buClr>
                <a:buSzPts val="3300"/>
                <a:buFont typeface="Arial"/>
                <a:buNone/>
              </a:pPr>
              <a:r>
                <a:rPr lang="en-US" sz="3300" b="0" i="0" u="none" strike="noStrike" cap="none">
                  <a:solidFill>
                    <a:srgbClr val="7F7F7F"/>
                  </a:solidFill>
                  <a:latin typeface="Calibri"/>
                  <a:ea typeface="Calibri"/>
                  <a:cs typeface="Calibri"/>
                  <a:sym typeface="Calibri"/>
                </a:rPr>
                <a:t>The default color theme for this template is “Office”, so you can always return to that after trying some of the alternatives.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86"/>
                </a:spcBef>
                <a:spcAft>
                  <a:spcPts val="0"/>
                </a:spcAft>
                <a:buClr>
                  <a:srgbClr val="000000"/>
                </a:buClr>
                <a:buSzPts val="4700"/>
                <a:buFont typeface="Arial"/>
                <a:buNone/>
              </a:pPr>
              <a:r>
                <a:rPr lang="en-US" sz="4700" b="0" i="0" u="none" strike="noStrike" cap="none">
                  <a:solidFill>
                    <a:srgbClr val="7F7F7F"/>
                  </a:solidFill>
                  <a:latin typeface="Calibri"/>
                  <a:ea typeface="Calibri"/>
                  <a:cs typeface="Calibri"/>
                  <a:sym typeface="Calibri"/>
                </a:rPr>
                <a:t>Printing Your Poster: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86"/>
                </a:spcBef>
                <a:spcAft>
                  <a:spcPts val="0"/>
                </a:spcAft>
                <a:buClr>
                  <a:srgbClr val="000000"/>
                </a:buClr>
                <a:buSzPts val="3300"/>
                <a:buFont typeface="Arial"/>
                <a:buNone/>
              </a:pPr>
              <a:r>
                <a:rPr lang="en-US" sz="3300" b="0" i="0" u="none" strike="noStrike" cap="none">
                  <a:solidFill>
                    <a:srgbClr val="7F7F7F"/>
                  </a:solidFill>
                  <a:latin typeface="Calibri"/>
                  <a:ea typeface="Calibri"/>
                  <a:cs typeface="Calibri"/>
                  <a:sym typeface="Calibri"/>
                </a:rPr>
                <a:t>Once your poster file is ready, visit </a:t>
              </a:r>
              <a:r>
                <a:rPr lang="en-US" sz="3300" b="1" i="0" u="none" strike="noStrike" cap="none">
                  <a:solidFill>
                    <a:srgbClr val="7F7F7F"/>
                  </a:solidFill>
                  <a:latin typeface="Calibri"/>
                  <a:ea typeface="Calibri"/>
                  <a:cs typeface="Calibri"/>
                  <a:sym typeface="Calibri"/>
                </a:rPr>
                <a:t>www.genigraphics.com</a:t>
              </a:r>
              <a:r>
                <a:rPr lang="en-US" sz="3300" b="0" i="0" u="none" strike="noStrike" cap="none">
                  <a:solidFill>
                    <a:srgbClr val="7F7F7F"/>
                  </a:solidFill>
                  <a:latin typeface="Calibri"/>
                  <a:ea typeface="Calibri"/>
                  <a:cs typeface="Calibri"/>
                  <a:sym typeface="Calibri"/>
                </a:rPr>
                <a:t> to order a high-quality, affordable poster print. Every order receives a free design review and we can deliver as fast as next business day within the US and Canada.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86"/>
                </a:spcBef>
                <a:spcAft>
                  <a:spcPts val="0"/>
                </a:spcAft>
                <a:buClr>
                  <a:srgbClr val="000000"/>
                </a:buClr>
                <a:buSzPts val="3300"/>
                <a:buFont typeface="Arial"/>
                <a:buNone/>
              </a:pPr>
              <a:r>
                <a:rPr lang="en-US" sz="3300" b="0" i="0" u="none" strike="noStrike" cap="none">
                  <a:solidFill>
                    <a:srgbClr val="7F7F7F"/>
                  </a:solidFill>
                  <a:latin typeface="Calibri"/>
                  <a:ea typeface="Calibri"/>
                  <a:cs typeface="Calibri"/>
                  <a:sym typeface="Calibri"/>
                </a:rPr>
                <a:t>Genigraphics® has been producing output from PowerPoint® longer than anyone in the industry; dating back to when we helped Microsoft® design the PowerPoint® software.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86"/>
                </a:spcBef>
                <a:spcAft>
                  <a:spcPts val="0"/>
                </a:spcAft>
                <a:buClr>
                  <a:srgbClr val="000000"/>
                </a:buClr>
                <a:buSzPts val="3300"/>
                <a:buFont typeface="Arial"/>
                <a:buNone/>
              </a:pPr>
              <a:endParaRPr sz="3300" b="0" i="0" u="none" strike="noStrike" cap="none">
                <a:solidFill>
                  <a:srgbClr val="7F7F7F"/>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3300"/>
                <a:buFont typeface="Arial"/>
                <a:buNone/>
              </a:pPr>
              <a:r>
                <a:rPr lang="en-US" sz="3300" b="0" i="0" u="none" strike="noStrike" cap="none">
                  <a:solidFill>
                    <a:srgbClr val="7F7F7F"/>
                  </a:solidFill>
                  <a:latin typeface="Calibri"/>
                  <a:ea typeface="Calibri"/>
                  <a:cs typeface="Calibri"/>
                  <a:sym typeface="Calibri"/>
                </a:rPr>
                <a:t>US and Canada:  1-800-790-4001</a:t>
              </a:r>
              <a:br>
                <a:rPr lang="en-US" sz="3300" b="0" i="0" u="none" strike="noStrike" cap="none">
                  <a:solidFill>
                    <a:srgbClr val="7F7F7F"/>
                  </a:solidFill>
                  <a:latin typeface="Calibri"/>
                  <a:ea typeface="Calibri"/>
                  <a:cs typeface="Calibri"/>
                  <a:sym typeface="Calibri"/>
                </a:rPr>
              </a:br>
              <a:r>
                <a:rPr lang="en-US" sz="3300" b="0" i="0" u="none" strike="noStrike" cap="none">
                  <a:solidFill>
                    <a:srgbClr val="7F7F7F"/>
                  </a:solidFill>
                  <a:latin typeface="Calibri"/>
                  <a:ea typeface="Calibri"/>
                  <a:cs typeface="Calibri"/>
                  <a:sym typeface="Calibri"/>
                </a:rPr>
                <a:t>Email: info@genigraphics.com</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br>
                <a:rPr lang="en-US" sz="2400" b="0" i="0" u="none" strike="noStrike" cap="none">
                  <a:solidFill>
                    <a:srgbClr val="7F7F7F"/>
                  </a:solidFill>
                  <a:latin typeface="Calibri"/>
                  <a:ea typeface="Calibri"/>
                  <a:cs typeface="Calibri"/>
                  <a:sym typeface="Calibri"/>
                </a:rPr>
              </a:br>
              <a:r>
                <a:rPr lang="en-US" sz="2400" b="0" i="0" u="none" strike="noStrike" cap="none">
                  <a:solidFill>
                    <a:srgbClr val="7F7F7F"/>
                  </a:solidFill>
                  <a:latin typeface="Calibri"/>
                  <a:ea typeface="Calibri"/>
                  <a:cs typeface="Calibri"/>
                  <a:sym typeface="Calibri"/>
                </a:rPr>
                <a:t>[This sidebar area does not print.]</a:t>
              </a:r>
              <a:endParaRPr sz="1400" b="0" i="0" u="none" strike="noStrike" cap="none">
                <a:solidFill>
                  <a:srgbClr val="000000"/>
                </a:solidFill>
                <a:latin typeface="Arial"/>
                <a:ea typeface="Arial"/>
                <a:cs typeface="Arial"/>
                <a:sym typeface="Arial"/>
              </a:endParaRPr>
            </a:p>
          </p:txBody>
        </p:sp>
        <p:pic>
          <p:nvPicPr>
            <p:cNvPr id="23" name="Google Shape;23;p3"/>
            <p:cNvPicPr preferRelativeResize="0"/>
            <p:nvPr/>
          </p:nvPicPr>
          <p:blipFill rotWithShape="1">
            <a:blip r:embed="rId2">
              <a:alphaModFix/>
            </a:blip>
            <a:srcRect/>
            <a:stretch/>
          </p:blipFill>
          <p:spPr>
            <a:xfrm>
              <a:off x="34281341" y="9260274"/>
              <a:ext cx="11904515" cy="10246926"/>
            </a:xfrm>
            <a:prstGeom prst="rect">
              <a:avLst/>
            </a:prstGeom>
            <a:noFill/>
            <a:ln>
              <a:noFill/>
            </a:ln>
          </p:spPr>
        </p:pic>
      </p:grpSp>
      <p:pic>
        <p:nvPicPr>
          <p:cNvPr id="24" name="Google Shape;24;p3"/>
          <p:cNvPicPr preferRelativeResize="0"/>
          <p:nvPr/>
        </p:nvPicPr>
        <p:blipFill rotWithShape="1">
          <a:blip r:embed="rId3">
            <a:alphaModFix/>
          </a:blip>
          <a:srcRect/>
          <a:stretch/>
        </p:blipFill>
        <p:spPr>
          <a:xfrm>
            <a:off x="42026419" y="28903919"/>
            <a:ext cx="8093303" cy="24790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2514603" y="1171788"/>
            <a:ext cx="45262798" cy="4876800"/>
          </a:xfrm>
          <a:prstGeom prst="rect">
            <a:avLst/>
          </a:prstGeom>
          <a:noFill/>
          <a:ln>
            <a:noFill/>
          </a:ln>
        </p:spPr>
        <p:txBody>
          <a:bodyPr spcFirstLastPara="1" wrap="square" lIns="235050" tIns="117525" rIns="235050" bIns="117525"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2514603" y="6827524"/>
            <a:ext cx="45262798" cy="19310776"/>
          </a:xfrm>
          <a:prstGeom prst="rect">
            <a:avLst/>
          </a:prstGeom>
          <a:noFill/>
          <a:ln>
            <a:noFill/>
          </a:ln>
        </p:spPr>
        <p:txBody>
          <a:bodyPr spcFirstLastPara="1" wrap="square" lIns="235050" tIns="117525" rIns="235050" bIns="117525"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8" name="Google Shape;28;p4"/>
          <p:cNvSpPr txBox="1">
            <a:spLocks noGrp="1"/>
          </p:cNvSpPr>
          <p:nvPr>
            <p:ph type="dt" idx="10"/>
          </p:nvPr>
        </p:nvSpPr>
        <p:spPr>
          <a:xfrm>
            <a:off x="2514600" y="27120429"/>
            <a:ext cx="11734800" cy="1557867"/>
          </a:xfrm>
          <a:prstGeom prst="rect">
            <a:avLst/>
          </a:prstGeom>
          <a:noFill/>
          <a:ln>
            <a:noFill/>
          </a:ln>
        </p:spPr>
        <p:txBody>
          <a:bodyPr spcFirstLastPara="1" wrap="square" lIns="235050" tIns="117525" rIns="235050" bIns="1175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17183100" y="27120429"/>
            <a:ext cx="15925800" cy="1557867"/>
          </a:xfrm>
          <a:prstGeom prst="rect">
            <a:avLst/>
          </a:prstGeom>
          <a:noFill/>
          <a:ln>
            <a:noFill/>
          </a:ln>
        </p:spPr>
        <p:txBody>
          <a:bodyPr spcFirstLastPara="1" wrap="square" lIns="235050" tIns="117525" rIns="235050" bIns="1175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36042600" y="27120429"/>
            <a:ext cx="11734800" cy="1557867"/>
          </a:xfrm>
          <a:prstGeom prst="rect">
            <a:avLst/>
          </a:prstGeom>
          <a:noFill/>
          <a:ln>
            <a:noFill/>
          </a:ln>
        </p:spPr>
        <p:txBody>
          <a:bodyPr spcFirstLastPara="1" wrap="square" lIns="235050" tIns="117525" rIns="235050" bIns="117525" anchor="ctr" anchorCtr="0">
            <a:noAutofit/>
          </a:bodyPr>
          <a:lstStyle>
            <a:lvl1pPr marL="0" marR="0" lvl="0" indent="0" algn="r">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514603" y="1171788"/>
            <a:ext cx="45262798" cy="4876800"/>
          </a:xfrm>
          <a:prstGeom prst="rect">
            <a:avLst/>
          </a:prstGeom>
          <a:noFill/>
          <a:ln>
            <a:noFill/>
          </a:ln>
        </p:spPr>
        <p:txBody>
          <a:bodyPr spcFirstLastPara="1" wrap="square" lIns="235050" tIns="117525" rIns="235050" bIns="117525" anchor="ctr" anchorCtr="0">
            <a:normAutofit/>
          </a:bodyPr>
          <a:lstStyle>
            <a:lvl1pPr marR="0" lvl="0" algn="ctr" rtl="0">
              <a:lnSpc>
                <a:spcPct val="100000"/>
              </a:lnSpc>
              <a:spcBef>
                <a:spcPts val="0"/>
              </a:spcBef>
              <a:spcAft>
                <a:spcPts val="0"/>
              </a:spcAft>
              <a:buClr>
                <a:schemeClr val="dk1"/>
              </a:buClr>
              <a:buSzPts val="4200"/>
              <a:buFont typeface="Calibri"/>
              <a:buNone/>
              <a:defRPr sz="4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
          <p:cNvSpPr txBox="1">
            <a:spLocks noGrp="1"/>
          </p:cNvSpPr>
          <p:nvPr>
            <p:ph type="body" idx="1"/>
          </p:nvPr>
        </p:nvSpPr>
        <p:spPr>
          <a:xfrm>
            <a:off x="2514603" y="6827524"/>
            <a:ext cx="45262798" cy="19310776"/>
          </a:xfrm>
          <a:prstGeom prst="rect">
            <a:avLst/>
          </a:prstGeom>
          <a:noFill/>
          <a:ln>
            <a:noFill/>
          </a:ln>
        </p:spPr>
        <p:txBody>
          <a:bodyPr spcFirstLastPara="1" wrap="square" lIns="235050" tIns="117525" rIns="235050" bIns="117525" anchor="t" anchorCtr="0">
            <a:normAutofit/>
          </a:bodyPr>
          <a:lstStyle>
            <a:lvl1pPr marL="457200" marR="0" lvl="0" indent="-349250" algn="l" rtl="0">
              <a:lnSpc>
                <a:spcPct val="100000"/>
              </a:lnSpc>
              <a:spcBef>
                <a:spcPts val="38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1pPr>
            <a:lvl2pPr marL="914400" marR="0" lvl="1" indent="-349250" algn="l" rtl="0">
              <a:lnSpc>
                <a:spcPct val="100000"/>
              </a:lnSpc>
              <a:spcBef>
                <a:spcPts val="38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2pPr>
            <a:lvl3pPr marL="1371600" marR="0" lvl="2" indent="-349250" algn="l" rtl="0">
              <a:lnSpc>
                <a:spcPct val="100000"/>
              </a:lnSpc>
              <a:spcBef>
                <a:spcPts val="38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3pPr>
            <a:lvl4pPr marL="1828800" marR="0" lvl="3" indent="-349250" algn="l" rtl="0">
              <a:lnSpc>
                <a:spcPct val="100000"/>
              </a:lnSpc>
              <a:spcBef>
                <a:spcPts val="38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100000"/>
              </a:lnSpc>
              <a:spcBef>
                <a:spcPts val="38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558800" algn="l" rtl="0">
              <a:lnSpc>
                <a:spcPct val="100000"/>
              </a:lnSpc>
              <a:spcBef>
                <a:spcPts val="1040"/>
              </a:spcBef>
              <a:spcAft>
                <a:spcPts val="0"/>
              </a:spcAft>
              <a:buClr>
                <a:schemeClr val="dk1"/>
              </a:buClr>
              <a:buSzPts val="5200"/>
              <a:buFont typeface="Arial"/>
              <a:buChar char="•"/>
              <a:defRPr sz="5200" b="0" i="0" u="none" strike="noStrike" cap="none">
                <a:solidFill>
                  <a:schemeClr val="dk1"/>
                </a:solidFill>
                <a:latin typeface="Calibri"/>
                <a:ea typeface="Calibri"/>
                <a:cs typeface="Calibri"/>
                <a:sym typeface="Calibri"/>
              </a:defRPr>
            </a:lvl6pPr>
            <a:lvl7pPr marL="3200400" marR="0" lvl="6" indent="-558800" algn="l" rtl="0">
              <a:lnSpc>
                <a:spcPct val="100000"/>
              </a:lnSpc>
              <a:spcBef>
                <a:spcPts val="1040"/>
              </a:spcBef>
              <a:spcAft>
                <a:spcPts val="0"/>
              </a:spcAft>
              <a:buClr>
                <a:schemeClr val="dk1"/>
              </a:buClr>
              <a:buSzPts val="5200"/>
              <a:buFont typeface="Arial"/>
              <a:buChar char="•"/>
              <a:defRPr sz="5200" b="0" i="0" u="none" strike="noStrike" cap="none">
                <a:solidFill>
                  <a:schemeClr val="dk1"/>
                </a:solidFill>
                <a:latin typeface="Calibri"/>
                <a:ea typeface="Calibri"/>
                <a:cs typeface="Calibri"/>
                <a:sym typeface="Calibri"/>
              </a:defRPr>
            </a:lvl7pPr>
            <a:lvl8pPr marL="3657600" marR="0" lvl="7" indent="-558800" algn="l" rtl="0">
              <a:lnSpc>
                <a:spcPct val="100000"/>
              </a:lnSpc>
              <a:spcBef>
                <a:spcPts val="1040"/>
              </a:spcBef>
              <a:spcAft>
                <a:spcPts val="0"/>
              </a:spcAft>
              <a:buClr>
                <a:schemeClr val="dk1"/>
              </a:buClr>
              <a:buSzPts val="5200"/>
              <a:buFont typeface="Arial"/>
              <a:buChar char="•"/>
              <a:defRPr sz="5200" b="0" i="0" u="none" strike="noStrike" cap="none">
                <a:solidFill>
                  <a:schemeClr val="dk1"/>
                </a:solidFill>
                <a:latin typeface="Calibri"/>
                <a:ea typeface="Calibri"/>
                <a:cs typeface="Calibri"/>
                <a:sym typeface="Calibri"/>
              </a:defRPr>
            </a:lvl8pPr>
            <a:lvl9pPr marL="4114800" marR="0" lvl="8" indent="-558800" algn="l" rtl="0">
              <a:lnSpc>
                <a:spcPct val="100000"/>
              </a:lnSpc>
              <a:spcBef>
                <a:spcPts val="1040"/>
              </a:spcBef>
              <a:spcAft>
                <a:spcPts val="0"/>
              </a:spcAft>
              <a:buClr>
                <a:schemeClr val="dk1"/>
              </a:buClr>
              <a:buSzPts val="5200"/>
              <a:buFont typeface="Arial"/>
              <a:buChar char="•"/>
              <a:defRPr sz="520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2514600" y="27120429"/>
            <a:ext cx="11734800" cy="1557867"/>
          </a:xfrm>
          <a:prstGeom prst="rect">
            <a:avLst/>
          </a:prstGeom>
          <a:noFill/>
          <a:ln>
            <a:noFill/>
          </a:ln>
        </p:spPr>
        <p:txBody>
          <a:bodyPr spcFirstLastPara="1" wrap="square" lIns="235050" tIns="117525" rIns="235050" bIns="117525" anchor="ctr" anchorCtr="0">
            <a:noAutofit/>
          </a:bodyPr>
          <a:lstStyle>
            <a:lvl1pPr marR="0" lvl="0" algn="l" rtl="0">
              <a:lnSpc>
                <a:spcPct val="100000"/>
              </a:lnSpc>
              <a:spcBef>
                <a:spcPts val="0"/>
              </a:spcBef>
              <a:spcAft>
                <a:spcPts val="0"/>
              </a:spcAft>
              <a:buClr>
                <a:srgbClr val="000000"/>
              </a:buClr>
              <a:buSzPts val="1400"/>
              <a:buFont typeface="Arial"/>
              <a:buNone/>
              <a:defRPr sz="3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6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6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6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6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6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6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6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600"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17183100" y="27120429"/>
            <a:ext cx="15925800" cy="1557867"/>
          </a:xfrm>
          <a:prstGeom prst="rect">
            <a:avLst/>
          </a:prstGeom>
          <a:noFill/>
          <a:ln>
            <a:noFill/>
          </a:ln>
        </p:spPr>
        <p:txBody>
          <a:bodyPr spcFirstLastPara="1" wrap="square" lIns="235050" tIns="117525" rIns="235050" bIns="117525" anchor="ctr" anchorCtr="0">
            <a:noAutofit/>
          </a:bodyPr>
          <a:lstStyle>
            <a:lvl1pPr marR="0" lvl="0" algn="ctr" rtl="0">
              <a:lnSpc>
                <a:spcPct val="100000"/>
              </a:lnSpc>
              <a:spcBef>
                <a:spcPts val="0"/>
              </a:spcBef>
              <a:spcAft>
                <a:spcPts val="0"/>
              </a:spcAft>
              <a:buClr>
                <a:srgbClr val="000000"/>
              </a:buClr>
              <a:buSzPts val="1400"/>
              <a:buFont typeface="Arial"/>
              <a:buNone/>
              <a:defRPr sz="3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6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6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6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6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6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6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6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6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36042600" y="27120429"/>
            <a:ext cx="11734800" cy="1557867"/>
          </a:xfrm>
          <a:prstGeom prst="rect">
            <a:avLst/>
          </a:prstGeom>
          <a:noFill/>
          <a:ln>
            <a:noFill/>
          </a:ln>
        </p:spPr>
        <p:txBody>
          <a:bodyPr spcFirstLastPara="1" wrap="square" lIns="235050" tIns="117525" rIns="235050" bIns="117525" anchor="ctr" anchorCtr="0">
            <a:noAutofit/>
          </a:bodyPr>
          <a:lstStyle>
            <a:lvl1pPr marL="0" marR="0" lvl="0" indent="0" algn="r" rtl="0">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3200"/>
              <a:buFont typeface="Arial"/>
              <a:buNone/>
              <a:defRPr sz="3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jp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
        <p:cNvGrpSpPr/>
        <p:nvPr/>
      </p:nvGrpSpPr>
      <p:grpSpPr>
        <a:xfrm>
          <a:off x="0" y="0"/>
          <a:ext cx="0" cy="0"/>
          <a:chOff x="0" y="0"/>
          <a:chExt cx="0" cy="0"/>
        </a:xfrm>
      </p:grpSpPr>
      <p:pic>
        <p:nvPicPr>
          <p:cNvPr id="36" name="Google Shape;36;p1"/>
          <p:cNvPicPr preferRelativeResize="0"/>
          <p:nvPr/>
        </p:nvPicPr>
        <p:blipFill rotWithShape="1">
          <a:blip r:embed="rId3">
            <a:alphaModFix/>
          </a:blip>
          <a:srcRect l="5206" t="26471" r="51119" b="13553"/>
          <a:stretch/>
        </p:blipFill>
        <p:spPr>
          <a:xfrm rot="10800000" flipH="1">
            <a:off x="2989552" y="101597"/>
            <a:ext cx="29406246" cy="29768800"/>
          </a:xfrm>
          <a:prstGeom prst="rect">
            <a:avLst/>
          </a:prstGeom>
          <a:noFill/>
          <a:ln>
            <a:noFill/>
          </a:ln>
        </p:spPr>
      </p:pic>
      <p:pic>
        <p:nvPicPr>
          <p:cNvPr id="35" name="Google Shape;35;p1"/>
          <p:cNvPicPr preferRelativeResize="0"/>
          <p:nvPr/>
        </p:nvPicPr>
        <p:blipFill rotWithShape="1">
          <a:blip r:embed="rId3">
            <a:alphaModFix/>
          </a:blip>
          <a:srcRect l="8993" t="38890" r="30177" b="-2"/>
          <a:stretch/>
        </p:blipFill>
        <p:spPr>
          <a:xfrm flipH="1">
            <a:off x="9452314" y="101600"/>
            <a:ext cx="42922486" cy="29768800"/>
          </a:xfrm>
          <a:prstGeom prst="rect">
            <a:avLst/>
          </a:prstGeom>
          <a:noFill/>
          <a:ln>
            <a:noFill/>
          </a:ln>
        </p:spPr>
      </p:pic>
      <p:sp>
        <p:nvSpPr>
          <p:cNvPr id="38" name="Google Shape;38;p1"/>
          <p:cNvSpPr txBox="1"/>
          <p:nvPr/>
        </p:nvSpPr>
        <p:spPr>
          <a:xfrm>
            <a:off x="10167172" y="1961690"/>
            <a:ext cx="32339280" cy="2402305"/>
          </a:xfrm>
          <a:prstGeom prst="rect">
            <a:avLst/>
          </a:prstGeom>
          <a:noFill/>
          <a:ln>
            <a:noFill/>
          </a:ln>
        </p:spPr>
        <p:txBody>
          <a:bodyPr spcFirstLastPara="1" wrap="square" lIns="97925" tIns="97925" rIns="97925" bIns="97925" anchor="ctr" anchorCtr="0">
            <a:noAutofit/>
          </a:bodyPr>
          <a:lstStyle/>
          <a:p>
            <a:pPr algn="ctr">
              <a:buSzPts val="2800"/>
            </a:pPr>
            <a:r>
              <a:rPr lang="en-US" sz="4400" b="1" dirty="0"/>
              <a:t>Vision-Based Human and Path Following an Agricultural Robot using Embedded AI and Event-Driven Motion Control</a:t>
            </a:r>
          </a:p>
          <a:p>
            <a:pPr algn="ctr">
              <a:buSzPts val="2800"/>
            </a:pPr>
            <a:r>
              <a:rPr lang="en-US" sz="3200" dirty="0">
                <a:latin typeface="Arial Black" panose="020B0A04020102020204" pitchFamily="34" charset="0"/>
              </a:rPr>
              <a:t>Juan Heredia, Raul Salazar, Bryan Cisneros, Analiz Moreno Gonzalez, Marylynn Moreno, Peter Gutierrez, Allen Vizcarra, Abioye E. Abiodun, </a:t>
            </a:r>
            <a:br>
              <a:rPr lang="en-US" sz="3200" dirty="0">
                <a:latin typeface="Arial Black" panose="020B0A04020102020204" pitchFamily="34" charset="0"/>
              </a:rPr>
            </a:br>
            <a:r>
              <a:rPr lang="en-US" sz="3200" dirty="0">
                <a:latin typeface="Arial Black" panose="020B0A04020102020204" pitchFamily="34" charset="0"/>
              </a:rPr>
              <a:t>Reedley College, 995 N. Reed Ave. Reedley, CA  93654</a:t>
            </a:r>
          </a:p>
          <a:p>
            <a:pPr algn="ctr">
              <a:buSzPts val="1800"/>
            </a:pPr>
            <a:r>
              <a:rPr lang="en-US" sz="2800" dirty="0">
                <a:solidFill>
                  <a:schemeClr val="lt1"/>
                </a:solidFill>
              </a:rPr>
              <a:t>*lucabrillante@csufresno.edu</a:t>
            </a:r>
            <a:endParaRPr sz="2800" dirty="0">
              <a:solidFill>
                <a:schemeClr val="lt1"/>
              </a:solidFill>
            </a:endParaRPr>
          </a:p>
        </p:txBody>
      </p:sp>
      <p:sp>
        <p:nvSpPr>
          <p:cNvPr id="39" name="Google Shape;39;p1"/>
          <p:cNvSpPr txBox="1"/>
          <p:nvPr/>
        </p:nvSpPr>
        <p:spPr>
          <a:xfrm>
            <a:off x="9966965" y="23682964"/>
            <a:ext cx="98963" cy="357227"/>
          </a:xfrm>
          <a:prstGeom prst="rect">
            <a:avLst/>
          </a:prstGeom>
          <a:solidFill>
            <a:srgbClr val="B7CCE4"/>
          </a:solidFill>
          <a:ln>
            <a:noFill/>
          </a:ln>
        </p:spPr>
        <p:txBody>
          <a:bodyPr spcFirstLastPara="1" wrap="square" lIns="48950" tIns="24475" rIns="48950" bIns="24475" anchor="t" anchorCtr="0">
            <a:spAutoFit/>
          </a:bodyPr>
          <a:lstStyle/>
          <a:p>
            <a:pPr>
              <a:buSzPts val="2000"/>
            </a:pPr>
            <a:endParaRPr sz="2000">
              <a:solidFill>
                <a:schemeClr val="dk1"/>
              </a:solidFill>
              <a:latin typeface="Calibri"/>
              <a:ea typeface="Calibri"/>
              <a:cs typeface="Calibri"/>
              <a:sym typeface="Calibri"/>
            </a:endParaRPr>
          </a:p>
        </p:txBody>
      </p:sp>
      <p:sp>
        <p:nvSpPr>
          <p:cNvPr id="40" name="Google Shape;40;p1"/>
          <p:cNvSpPr txBox="1"/>
          <p:nvPr/>
        </p:nvSpPr>
        <p:spPr>
          <a:xfrm>
            <a:off x="9784080" y="7315203"/>
            <a:ext cx="9875520" cy="505539"/>
          </a:xfrm>
          <a:prstGeom prst="rect">
            <a:avLst/>
          </a:prstGeom>
          <a:solidFill>
            <a:schemeClr val="lt1"/>
          </a:solidFill>
          <a:ln>
            <a:noFill/>
          </a:ln>
        </p:spPr>
        <p:txBody>
          <a:bodyPr spcFirstLastPara="1" wrap="square" lIns="97925" tIns="97925" rIns="97925" bIns="97925" anchor="t" anchorCtr="0">
            <a:spAutoFit/>
          </a:bodyPr>
          <a:lstStyle/>
          <a:p>
            <a:pPr>
              <a:buSzPts val="2000"/>
            </a:pPr>
            <a:endParaRPr sz="2000" dirty="0">
              <a:solidFill>
                <a:schemeClr val="dk1"/>
              </a:solidFill>
              <a:latin typeface="Calibri"/>
              <a:ea typeface="Calibri"/>
              <a:cs typeface="Calibri"/>
              <a:sym typeface="Calibri"/>
            </a:endParaRPr>
          </a:p>
        </p:txBody>
      </p:sp>
      <p:sp>
        <p:nvSpPr>
          <p:cNvPr id="41" name="Google Shape;41;p1"/>
          <p:cNvSpPr/>
          <p:nvPr/>
        </p:nvSpPr>
        <p:spPr>
          <a:xfrm>
            <a:off x="9762622" y="4495491"/>
            <a:ext cx="9875520" cy="510682"/>
          </a:xfrm>
          <a:prstGeom prst="rect">
            <a:avLst/>
          </a:prstGeom>
          <a:solidFill>
            <a:srgbClr val="C00000"/>
          </a:solidFill>
          <a:ln>
            <a:noFill/>
          </a:ln>
        </p:spPr>
        <p:txBody>
          <a:bodyPr spcFirstLastPara="1" wrap="square" lIns="48950" tIns="24475" rIns="48950" bIns="24475" anchor="ctr" anchorCtr="0">
            <a:noAutofit/>
          </a:bodyPr>
          <a:lstStyle/>
          <a:p>
            <a:pPr algn="ctr">
              <a:buSzPts val="3200"/>
            </a:pPr>
            <a:r>
              <a:rPr lang="en-US" sz="3200" b="1" dirty="0">
                <a:solidFill>
                  <a:srgbClr val="EDEDED"/>
                </a:solidFill>
                <a:latin typeface="Arial Black"/>
                <a:ea typeface="Arial Black"/>
                <a:cs typeface="Arial Black"/>
                <a:sym typeface="Arial Black"/>
              </a:rPr>
              <a:t>Abstract</a:t>
            </a:r>
            <a:endParaRPr dirty="0">
              <a:latin typeface="Arial Black"/>
              <a:ea typeface="Arial Black"/>
              <a:cs typeface="Arial Black"/>
              <a:sym typeface="Arial Black"/>
            </a:endParaRPr>
          </a:p>
        </p:txBody>
      </p:sp>
      <p:sp>
        <p:nvSpPr>
          <p:cNvPr id="42" name="Google Shape;42;p1"/>
          <p:cNvSpPr/>
          <p:nvPr/>
        </p:nvSpPr>
        <p:spPr>
          <a:xfrm>
            <a:off x="9807213" y="16346427"/>
            <a:ext cx="9875520" cy="457200"/>
          </a:xfrm>
          <a:prstGeom prst="rect">
            <a:avLst/>
          </a:prstGeom>
          <a:solidFill>
            <a:srgbClr val="C00000"/>
          </a:solidFill>
          <a:ln>
            <a:noFill/>
          </a:ln>
        </p:spPr>
        <p:txBody>
          <a:bodyPr spcFirstLastPara="1" wrap="square" lIns="48950" tIns="24475" rIns="48950" bIns="24475" anchor="ctr" anchorCtr="0">
            <a:noAutofit/>
          </a:bodyPr>
          <a:lstStyle/>
          <a:p>
            <a:pPr algn="ctr">
              <a:buSzPts val="3200"/>
            </a:pPr>
            <a:r>
              <a:rPr lang="en-US" sz="3200" b="1" dirty="0">
                <a:solidFill>
                  <a:srgbClr val="EDEDED"/>
                </a:solidFill>
                <a:latin typeface="Arial Black"/>
                <a:ea typeface="Arial Black"/>
                <a:cs typeface="Arial Black"/>
                <a:sym typeface="Arial Black"/>
              </a:rPr>
              <a:t>Problem Statement</a:t>
            </a:r>
            <a:endParaRPr dirty="0">
              <a:latin typeface="Arial Black"/>
              <a:ea typeface="Arial Black"/>
              <a:cs typeface="Arial Black"/>
              <a:sym typeface="Arial Black"/>
            </a:endParaRPr>
          </a:p>
        </p:txBody>
      </p:sp>
      <p:sp>
        <p:nvSpPr>
          <p:cNvPr id="44" name="Google Shape;44;p1"/>
          <p:cNvSpPr/>
          <p:nvPr/>
        </p:nvSpPr>
        <p:spPr>
          <a:xfrm>
            <a:off x="30760633" y="24178031"/>
            <a:ext cx="10508836" cy="482082"/>
          </a:xfrm>
          <a:prstGeom prst="rect">
            <a:avLst/>
          </a:prstGeom>
          <a:solidFill>
            <a:srgbClr val="C00000"/>
          </a:solidFill>
          <a:ln>
            <a:noFill/>
          </a:ln>
        </p:spPr>
        <p:txBody>
          <a:bodyPr spcFirstLastPara="1" wrap="square" lIns="48950" tIns="24475" rIns="48950" bIns="24475" anchor="ctr" anchorCtr="0">
            <a:noAutofit/>
          </a:bodyPr>
          <a:lstStyle/>
          <a:p>
            <a:pPr algn="ctr">
              <a:buSzPts val="3200"/>
            </a:pPr>
            <a:r>
              <a:rPr lang="en-US" sz="3200" b="1" dirty="0">
                <a:solidFill>
                  <a:srgbClr val="EDEDED"/>
                </a:solidFill>
                <a:latin typeface="Arial Black"/>
                <a:ea typeface="Arial Black"/>
                <a:cs typeface="Arial Black"/>
                <a:sym typeface="Arial Black"/>
              </a:rPr>
              <a:t>Conclusion</a:t>
            </a:r>
            <a:endParaRPr dirty="0">
              <a:latin typeface="Arial Black"/>
              <a:ea typeface="Arial Black"/>
              <a:cs typeface="Arial Black"/>
              <a:sym typeface="Arial Black"/>
            </a:endParaRPr>
          </a:p>
        </p:txBody>
      </p:sp>
      <p:sp>
        <p:nvSpPr>
          <p:cNvPr id="46" name="Google Shape;46;p1"/>
          <p:cNvSpPr/>
          <p:nvPr/>
        </p:nvSpPr>
        <p:spPr>
          <a:xfrm>
            <a:off x="9601473" y="26521031"/>
            <a:ext cx="10081260" cy="510682"/>
          </a:xfrm>
          <a:prstGeom prst="rect">
            <a:avLst/>
          </a:prstGeom>
          <a:solidFill>
            <a:srgbClr val="C00000"/>
          </a:solidFill>
          <a:ln>
            <a:noFill/>
          </a:ln>
        </p:spPr>
        <p:txBody>
          <a:bodyPr spcFirstLastPara="1" wrap="square" lIns="48950" tIns="24475" rIns="48950" bIns="24475" anchor="ctr" anchorCtr="0">
            <a:noAutofit/>
          </a:bodyPr>
          <a:lstStyle/>
          <a:p>
            <a:pPr algn="ctr">
              <a:buSzPts val="3200"/>
            </a:pPr>
            <a:r>
              <a:rPr lang="en-US" sz="3200" b="1" dirty="0">
                <a:solidFill>
                  <a:srgbClr val="EDEDED"/>
                </a:solidFill>
                <a:latin typeface="Arial Black"/>
                <a:ea typeface="Arial Black"/>
                <a:cs typeface="Arial Black"/>
                <a:sym typeface="Arial Black"/>
              </a:rPr>
              <a:t>Materials &amp; Methods</a:t>
            </a:r>
            <a:endParaRPr sz="3200" b="1" dirty="0">
              <a:solidFill>
                <a:srgbClr val="EDEDED"/>
              </a:solidFill>
              <a:latin typeface="Arial Black"/>
              <a:ea typeface="Arial Black"/>
              <a:cs typeface="Arial Black"/>
              <a:sym typeface="Arial Black"/>
            </a:endParaRPr>
          </a:p>
        </p:txBody>
      </p:sp>
      <p:sp>
        <p:nvSpPr>
          <p:cNvPr id="48" name="Google Shape;48;p1"/>
          <p:cNvSpPr/>
          <p:nvPr/>
        </p:nvSpPr>
        <p:spPr>
          <a:xfrm>
            <a:off x="30513554" y="4440228"/>
            <a:ext cx="9584564" cy="664057"/>
          </a:xfrm>
          <a:prstGeom prst="rect">
            <a:avLst/>
          </a:prstGeom>
          <a:solidFill>
            <a:srgbClr val="C00000"/>
          </a:solidFill>
          <a:ln>
            <a:noFill/>
          </a:ln>
        </p:spPr>
        <p:txBody>
          <a:bodyPr spcFirstLastPara="1" wrap="square" lIns="48950" tIns="24475" rIns="48950" bIns="24475" anchor="ctr" anchorCtr="0">
            <a:noAutofit/>
          </a:bodyPr>
          <a:lstStyle/>
          <a:p>
            <a:pPr algn="ctr">
              <a:buSzPts val="3200"/>
            </a:pPr>
            <a:r>
              <a:rPr lang="en-US" sz="3200" b="1" dirty="0">
                <a:solidFill>
                  <a:srgbClr val="EDEDED"/>
                </a:solidFill>
                <a:latin typeface="Arial Black"/>
                <a:ea typeface="Arial Black"/>
                <a:cs typeface="Arial Black"/>
                <a:sym typeface="Arial Black"/>
              </a:rPr>
              <a:t>Results</a:t>
            </a:r>
            <a:endParaRPr sz="3200" b="1" dirty="0">
              <a:solidFill>
                <a:srgbClr val="EDEDED"/>
              </a:solidFill>
              <a:latin typeface="Arial Black"/>
              <a:ea typeface="Arial Black"/>
              <a:cs typeface="Arial Black"/>
              <a:sym typeface="Arial Black"/>
            </a:endParaRPr>
          </a:p>
        </p:txBody>
      </p:sp>
      <p:sp>
        <p:nvSpPr>
          <p:cNvPr id="68" name="Google Shape;68;p1"/>
          <p:cNvSpPr/>
          <p:nvPr/>
        </p:nvSpPr>
        <p:spPr>
          <a:xfrm>
            <a:off x="20110378" y="17504486"/>
            <a:ext cx="9776557" cy="752557"/>
          </a:xfrm>
          <a:prstGeom prst="rect">
            <a:avLst/>
          </a:prstGeom>
          <a:solidFill>
            <a:srgbClr val="256693"/>
          </a:solidFill>
          <a:ln>
            <a:noFill/>
          </a:ln>
        </p:spPr>
        <p:txBody>
          <a:bodyPr spcFirstLastPara="1" wrap="square" lIns="91425" tIns="45700" rIns="91425" bIns="45700" anchor="ctr" anchorCtr="0">
            <a:noAutofit/>
          </a:bodyPr>
          <a:lstStyle/>
          <a:p>
            <a:pPr lvl="0" algn="ctr"/>
            <a:r>
              <a:rPr lang="en-US" sz="3200" dirty="0">
                <a:solidFill>
                  <a:schemeClr val="bg1"/>
                </a:solidFill>
              </a:rPr>
              <a:t>Fig. 1 </a:t>
            </a:r>
            <a:r>
              <a:rPr lang="en-US" sz="3200" b="1" dirty="0">
                <a:solidFill>
                  <a:schemeClr val="bg1"/>
                </a:solidFill>
              </a:rPr>
              <a:t>Vision-Based Human Following Navigation</a:t>
            </a:r>
            <a:endParaRPr sz="3200" dirty="0">
              <a:solidFill>
                <a:schemeClr val="bg1"/>
              </a:solidFill>
            </a:endParaRPr>
          </a:p>
        </p:txBody>
      </p:sp>
      <p:pic>
        <p:nvPicPr>
          <p:cNvPr id="3" name="Picture 2">
            <a:extLst>
              <a:ext uri="{FF2B5EF4-FFF2-40B4-BE49-F238E27FC236}">
                <a16:creationId xmlns:a16="http://schemas.microsoft.com/office/drawing/2014/main" id="{DC454EC5-4725-4819-8ACB-B01C67FF9810}"/>
              </a:ext>
            </a:extLst>
          </p:cNvPr>
          <p:cNvPicPr>
            <a:picLocks noChangeAspect="1"/>
          </p:cNvPicPr>
          <p:nvPr/>
        </p:nvPicPr>
        <p:blipFill>
          <a:blip r:embed="rId4"/>
          <a:stretch>
            <a:fillRect/>
          </a:stretch>
        </p:blipFill>
        <p:spPr>
          <a:xfrm>
            <a:off x="41848291" y="13822164"/>
            <a:ext cx="3960330" cy="3473023"/>
          </a:xfrm>
          <a:prstGeom prst="rect">
            <a:avLst/>
          </a:prstGeom>
        </p:spPr>
      </p:pic>
      <p:sp>
        <p:nvSpPr>
          <p:cNvPr id="4" name="Rectangle 3">
            <a:extLst>
              <a:ext uri="{FF2B5EF4-FFF2-40B4-BE49-F238E27FC236}">
                <a16:creationId xmlns:a16="http://schemas.microsoft.com/office/drawing/2014/main" id="{80408E2B-BB75-4D59-BA55-1A9610EF3C25}"/>
              </a:ext>
            </a:extLst>
          </p:cNvPr>
          <p:cNvSpPr/>
          <p:nvPr/>
        </p:nvSpPr>
        <p:spPr>
          <a:xfrm>
            <a:off x="9784083" y="5149746"/>
            <a:ext cx="9959677" cy="7909858"/>
          </a:xfrm>
          <a:prstGeom prst="rect">
            <a:avLst/>
          </a:prstGeom>
        </p:spPr>
        <p:txBody>
          <a:bodyPr wrap="square">
            <a:spAutoFit/>
          </a:bodyPr>
          <a:lstStyle/>
          <a:p>
            <a:pPr algn="just"/>
            <a:r>
              <a:rPr lang="en-US" sz="3200" dirty="0"/>
              <a:t>Autonomous human-following robots have significant potential in agricultural operations, enabling intelligent assistance and precision navigation. This paper presents a vision-based human-following system implemented on the Farm-ng Amiga agricultural robot using an embedded OAK camera and real-time pose detection. The system integrates computer vision, event-driven motion control, and network-based communication. Human pose detection is used to generate motion commands based on alignment and proximity thresholds. Experimental results demonstrate reliable tracking, responsive motion control, and stable communication performance. The proposed architecture provides a scalable framework for agricultural robotics and AI-guided navigation.</a:t>
            </a:r>
          </a:p>
          <a:p>
            <a:pPr algn="just"/>
            <a:endParaRPr lang="en-US" sz="2800" dirty="0"/>
          </a:p>
        </p:txBody>
      </p:sp>
      <p:sp>
        <p:nvSpPr>
          <p:cNvPr id="5" name="Rectangle 4">
            <a:extLst>
              <a:ext uri="{FF2B5EF4-FFF2-40B4-BE49-F238E27FC236}">
                <a16:creationId xmlns:a16="http://schemas.microsoft.com/office/drawing/2014/main" id="{309F4BC0-277D-4DB2-8CE7-A3465D37043F}"/>
              </a:ext>
            </a:extLst>
          </p:cNvPr>
          <p:cNvSpPr/>
          <p:nvPr/>
        </p:nvSpPr>
        <p:spPr>
          <a:xfrm>
            <a:off x="9807216" y="16979833"/>
            <a:ext cx="9776557" cy="3539430"/>
          </a:xfrm>
          <a:prstGeom prst="rect">
            <a:avLst/>
          </a:prstGeom>
        </p:spPr>
        <p:txBody>
          <a:bodyPr wrap="square">
            <a:spAutoFit/>
          </a:bodyPr>
          <a:lstStyle/>
          <a:p>
            <a:pPr marL="457200" indent="-457200" algn="just">
              <a:buFont typeface="Wingdings" panose="05000000000000000000" pitchFamily="2" charset="2"/>
              <a:buChar char="Ø"/>
            </a:pPr>
            <a:r>
              <a:rPr lang="en-US" sz="3200" dirty="0"/>
              <a:t>Reliable human-following in outdoor environments.</a:t>
            </a:r>
          </a:p>
          <a:p>
            <a:pPr marL="457200" indent="-457200" algn="just">
              <a:buFont typeface="Wingdings" panose="05000000000000000000" pitchFamily="2" charset="2"/>
              <a:buChar char="Ø"/>
            </a:pPr>
            <a:r>
              <a:rPr lang="en-US" sz="3200" dirty="0"/>
              <a:t>In accurate autonomous robot navigation along farm paths and crop rows.</a:t>
            </a:r>
          </a:p>
          <a:p>
            <a:pPr marL="457200" indent="-457200" algn="just">
              <a:buFont typeface="Wingdings" panose="05000000000000000000" pitchFamily="2" charset="2"/>
              <a:buChar char="Ø"/>
            </a:pPr>
            <a:r>
              <a:rPr lang="en-US" sz="3200" dirty="0"/>
              <a:t>Real-time perception and decision making using low-power embedded systems.</a:t>
            </a:r>
          </a:p>
          <a:p>
            <a:pPr marL="457200" indent="-457200" algn="just">
              <a:buFont typeface="Wingdings" panose="05000000000000000000" pitchFamily="2" charset="2"/>
              <a:buChar char="Ø"/>
            </a:pPr>
            <a:r>
              <a:rPr lang="en-US" sz="3200" dirty="0"/>
              <a:t>Stable communication between perception modules and robot control.</a:t>
            </a:r>
          </a:p>
        </p:txBody>
      </p:sp>
      <p:sp>
        <p:nvSpPr>
          <p:cNvPr id="29" name="Google Shape;42;p1">
            <a:extLst>
              <a:ext uri="{FF2B5EF4-FFF2-40B4-BE49-F238E27FC236}">
                <a16:creationId xmlns:a16="http://schemas.microsoft.com/office/drawing/2014/main" id="{92BF010A-0E96-44CA-B60A-A7C74A72EB24}"/>
              </a:ext>
            </a:extLst>
          </p:cNvPr>
          <p:cNvSpPr/>
          <p:nvPr/>
        </p:nvSpPr>
        <p:spPr>
          <a:xfrm>
            <a:off x="9864032" y="20630648"/>
            <a:ext cx="9875520" cy="457200"/>
          </a:xfrm>
          <a:prstGeom prst="rect">
            <a:avLst/>
          </a:prstGeom>
          <a:solidFill>
            <a:srgbClr val="C00000"/>
          </a:solidFill>
          <a:ln>
            <a:noFill/>
          </a:ln>
        </p:spPr>
        <p:txBody>
          <a:bodyPr spcFirstLastPara="1" wrap="square" lIns="48950" tIns="24475" rIns="48950" bIns="24475" anchor="ctr" anchorCtr="0">
            <a:noAutofit/>
          </a:bodyPr>
          <a:lstStyle/>
          <a:p>
            <a:pPr algn="ctr">
              <a:buSzPts val="3200"/>
            </a:pPr>
            <a:r>
              <a:rPr lang="en-US" sz="3200" b="1" dirty="0">
                <a:solidFill>
                  <a:srgbClr val="EDEDED"/>
                </a:solidFill>
                <a:latin typeface="Arial Black"/>
                <a:ea typeface="Arial Black"/>
                <a:cs typeface="Arial Black"/>
                <a:sym typeface="Arial Black"/>
              </a:rPr>
              <a:t>Objectives</a:t>
            </a:r>
            <a:endParaRPr dirty="0">
              <a:latin typeface="Arial Black"/>
              <a:ea typeface="Arial Black"/>
              <a:cs typeface="Arial Black"/>
              <a:sym typeface="Arial Black"/>
            </a:endParaRPr>
          </a:p>
        </p:txBody>
      </p:sp>
      <p:sp>
        <p:nvSpPr>
          <p:cNvPr id="6" name="Rectangle 5">
            <a:extLst>
              <a:ext uri="{FF2B5EF4-FFF2-40B4-BE49-F238E27FC236}">
                <a16:creationId xmlns:a16="http://schemas.microsoft.com/office/drawing/2014/main" id="{C30050C2-665E-4D06-89D9-D0EC6CD07CAF}"/>
              </a:ext>
            </a:extLst>
          </p:cNvPr>
          <p:cNvSpPr/>
          <p:nvPr/>
        </p:nvSpPr>
        <p:spPr>
          <a:xfrm>
            <a:off x="9834505" y="21205128"/>
            <a:ext cx="9981070" cy="5016758"/>
          </a:xfrm>
          <a:prstGeom prst="rect">
            <a:avLst/>
          </a:prstGeom>
        </p:spPr>
        <p:txBody>
          <a:bodyPr wrap="square">
            <a:spAutoFit/>
          </a:bodyPr>
          <a:lstStyle/>
          <a:p>
            <a:pPr marL="457200" indent="-457200" algn="just">
              <a:buFont typeface="Wingdings" panose="05000000000000000000" pitchFamily="2" charset="2"/>
              <a:buChar char="Ø"/>
            </a:pPr>
            <a:r>
              <a:rPr lang="en-US" sz="3200" dirty="0"/>
              <a:t>Implement a human-following and path-following system on the Farm-ng Amiga robot.</a:t>
            </a:r>
          </a:p>
          <a:p>
            <a:pPr marL="457200" indent="-457200" algn="just">
              <a:buFont typeface="Wingdings" panose="05000000000000000000" pitchFamily="2" charset="2"/>
              <a:buChar char="Ø"/>
            </a:pPr>
            <a:r>
              <a:rPr lang="en-US" sz="3200" dirty="0"/>
              <a:t>Use an OAK camera and embedded AI for real-time perception.</a:t>
            </a:r>
          </a:p>
          <a:p>
            <a:pPr marL="457200" indent="-457200" algn="just">
              <a:buFont typeface="Wingdings" panose="05000000000000000000" pitchFamily="2" charset="2"/>
              <a:buChar char="Ø"/>
            </a:pPr>
            <a:r>
              <a:rPr lang="en-US" sz="3200" dirty="0"/>
              <a:t> Apply pose detection and image segmentation for navigation.</a:t>
            </a:r>
          </a:p>
          <a:p>
            <a:pPr marL="457200" indent="-457200" algn="just">
              <a:buFont typeface="Wingdings" panose="05000000000000000000" pitchFamily="2" charset="2"/>
              <a:buChar char="Ø"/>
            </a:pPr>
            <a:r>
              <a:rPr lang="en-US" sz="3200" dirty="0"/>
              <a:t>Implement event-driven motion control with TCP communication.</a:t>
            </a:r>
          </a:p>
          <a:p>
            <a:pPr marL="457200" indent="-457200" algn="just">
              <a:buFont typeface="Wingdings" panose="05000000000000000000" pitchFamily="2" charset="2"/>
              <a:buChar char="Ø"/>
            </a:pPr>
            <a:r>
              <a:rPr lang="en-US" sz="3200" dirty="0"/>
              <a:t>Implement autonomous navigation to allow the robot to operate independently in vineyard rows</a:t>
            </a:r>
          </a:p>
        </p:txBody>
      </p:sp>
      <p:sp>
        <p:nvSpPr>
          <p:cNvPr id="8" name="Rectangle 7">
            <a:extLst>
              <a:ext uri="{FF2B5EF4-FFF2-40B4-BE49-F238E27FC236}">
                <a16:creationId xmlns:a16="http://schemas.microsoft.com/office/drawing/2014/main" id="{1A2B84D2-3ECD-445F-82FB-CDCE06DC46EB}"/>
              </a:ext>
            </a:extLst>
          </p:cNvPr>
          <p:cNvSpPr/>
          <p:nvPr/>
        </p:nvSpPr>
        <p:spPr>
          <a:xfrm>
            <a:off x="9683890" y="27156685"/>
            <a:ext cx="10587460" cy="2062103"/>
          </a:xfrm>
          <a:prstGeom prst="rect">
            <a:avLst/>
          </a:prstGeom>
        </p:spPr>
        <p:txBody>
          <a:bodyPr wrap="square">
            <a:spAutoFit/>
          </a:bodyPr>
          <a:lstStyle/>
          <a:p>
            <a:pPr marL="457200" indent="-457200">
              <a:buFont typeface="Wingdings" panose="05000000000000000000" pitchFamily="2" charset="2"/>
              <a:buChar char="Ø"/>
            </a:pPr>
            <a:r>
              <a:rPr lang="en-US" sz="3200" dirty="0"/>
              <a:t>Amiga robot from Farm-ng was used, featuring autonomous navigation and AI integration capabilities.</a:t>
            </a:r>
          </a:p>
          <a:p>
            <a:pPr marL="457200" indent="-457200">
              <a:buFont typeface="Wingdings" panose="05000000000000000000" pitchFamily="2" charset="2"/>
              <a:buChar char="Ø"/>
            </a:pPr>
            <a:r>
              <a:rPr lang="en-US" sz="3200" dirty="0"/>
              <a:t>OAK Embedded AI Camera</a:t>
            </a:r>
          </a:p>
          <a:p>
            <a:pPr marL="457200" indent="-457200">
              <a:buFont typeface="Wingdings" panose="05000000000000000000" pitchFamily="2" charset="2"/>
              <a:buChar char="Ø"/>
            </a:pPr>
            <a:r>
              <a:rPr lang="en-US" sz="3200" dirty="0"/>
              <a:t>Embedded Processing Unit (Nvidia Jetson)</a:t>
            </a:r>
          </a:p>
        </p:txBody>
      </p:sp>
      <p:sp>
        <p:nvSpPr>
          <p:cNvPr id="10" name="Rectangle 9">
            <a:extLst>
              <a:ext uri="{FF2B5EF4-FFF2-40B4-BE49-F238E27FC236}">
                <a16:creationId xmlns:a16="http://schemas.microsoft.com/office/drawing/2014/main" id="{41B2AB2F-AB57-488F-A6A3-0CA38238F1C0}"/>
              </a:ext>
            </a:extLst>
          </p:cNvPr>
          <p:cNvSpPr/>
          <p:nvPr/>
        </p:nvSpPr>
        <p:spPr>
          <a:xfrm>
            <a:off x="9762622" y="13256749"/>
            <a:ext cx="10403178" cy="3046988"/>
          </a:xfrm>
          <a:prstGeom prst="rect">
            <a:avLst/>
          </a:prstGeom>
        </p:spPr>
        <p:txBody>
          <a:bodyPr wrap="square">
            <a:spAutoFit/>
          </a:bodyPr>
          <a:lstStyle/>
          <a:p>
            <a:pPr marL="457200" indent="-457200">
              <a:buFont typeface="Wingdings" panose="05000000000000000000" pitchFamily="2" charset="2"/>
              <a:buChar char="Ø"/>
            </a:pPr>
            <a:r>
              <a:rPr lang="en-US" sz="3200" dirty="0"/>
              <a:t>Agricultural automation is increasingly needed to improve efficiency, productivity, and labor support.</a:t>
            </a:r>
          </a:p>
          <a:p>
            <a:pPr marL="457200" indent="-457200">
              <a:buFont typeface="Wingdings" panose="05000000000000000000" pitchFamily="2" charset="2"/>
              <a:buChar char="Ø"/>
            </a:pPr>
            <a:r>
              <a:rPr lang="en-US" sz="3200" dirty="0"/>
              <a:t>Farm workers often need mobile robots to carry tools, transport equipment, and assist in field monitoring.</a:t>
            </a:r>
          </a:p>
          <a:p>
            <a:pPr marL="457200" indent="-457200">
              <a:buFont typeface="Wingdings" panose="05000000000000000000" pitchFamily="2" charset="2"/>
              <a:buChar char="Ø"/>
            </a:pPr>
            <a:r>
              <a:rPr lang="en-US" sz="3200" dirty="0"/>
              <a:t>Current agricultural robots require manual control or complex infrastructure-based navigation systems</a:t>
            </a:r>
            <a:r>
              <a:rPr lang="en-US" sz="2800" dirty="0"/>
              <a:t>.</a:t>
            </a:r>
          </a:p>
        </p:txBody>
      </p:sp>
      <p:pic>
        <p:nvPicPr>
          <p:cNvPr id="15" name="Picture 14">
            <a:extLst>
              <a:ext uri="{FF2B5EF4-FFF2-40B4-BE49-F238E27FC236}">
                <a16:creationId xmlns:a16="http://schemas.microsoft.com/office/drawing/2014/main" id="{E2AFC490-AA51-474F-B71D-6E62DE99AFA1}"/>
              </a:ext>
            </a:extLst>
          </p:cNvPr>
          <p:cNvPicPr>
            <a:picLocks noChangeAspect="1"/>
          </p:cNvPicPr>
          <p:nvPr/>
        </p:nvPicPr>
        <p:blipFill>
          <a:blip r:embed="rId5"/>
          <a:stretch>
            <a:fillRect/>
          </a:stretch>
        </p:blipFill>
        <p:spPr>
          <a:xfrm>
            <a:off x="41732135" y="16626994"/>
            <a:ext cx="4076486" cy="3643326"/>
          </a:xfrm>
          <a:prstGeom prst="rect">
            <a:avLst/>
          </a:prstGeom>
        </p:spPr>
      </p:pic>
      <p:pic>
        <p:nvPicPr>
          <p:cNvPr id="25" name="Picture 24">
            <a:extLst>
              <a:ext uri="{FF2B5EF4-FFF2-40B4-BE49-F238E27FC236}">
                <a16:creationId xmlns:a16="http://schemas.microsoft.com/office/drawing/2014/main" id="{4FD4BBFA-332D-09C7-EE49-0F26F28E2504}"/>
              </a:ext>
            </a:extLst>
          </p:cNvPr>
          <p:cNvPicPr>
            <a:picLocks noChangeAspect="1"/>
          </p:cNvPicPr>
          <p:nvPr/>
        </p:nvPicPr>
        <p:blipFill>
          <a:blip r:embed="rId6"/>
          <a:stretch>
            <a:fillRect/>
          </a:stretch>
        </p:blipFill>
        <p:spPr>
          <a:xfrm>
            <a:off x="41269468" y="7700549"/>
            <a:ext cx="5727963" cy="3017921"/>
          </a:xfrm>
          <a:prstGeom prst="rect">
            <a:avLst/>
          </a:prstGeom>
        </p:spPr>
      </p:pic>
      <p:pic>
        <p:nvPicPr>
          <p:cNvPr id="9" name="Picture 8">
            <a:extLst>
              <a:ext uri="{FF2B5EF4-FFF2-40B4-BE49-F238E27FC236}">
                <a16:creationId xmlns:a16="http://schemas.microsoft.com/office/drawing/2014/main" id="{72F5210A-AACA-A04F-56DD-733D8B65A765}"/>
              </a:ext>
            </a:extLst>
          </p:cNvPr>
          <p:cNvPicPr>
            <a:picLocks noChangeAspect="1"/>
          </p:cNvPicPr>
          <p:nvPr/>
        </p:nvPicPr>
        <p:blipFill>
          <a:blip r:embed="rId7"/>
          <a:stretch>
            <a:fillRect/>
          </a:stretch>
        </p:blipFill>
        <p:spPr>
          <a:xfrm>
            <a:off x="20165800" y="22362965"/>
            <a:ext cx="8580650" cy="4494577"/>
          </a:xfrm>
          <a:prstGeom prst="rect">
            <a:avLst/>
          </a:prstGeom>
        </p:spPr>
      </p:pic>
      <p:pic>
        <p:nvPicPr>
          <p:cNvPr id="12" name="Picture 11">
            <a:extLst>
              <a:ext uri="{FF2B5EF4-FFF2-40B4-BE49-F238E27FC236}">
                <a16:creationId xmlns:a16="http://schemas.microsoft.com/office/drawing/2014/main" id="{E08359DF-1A0E-C102-C281-96C589FCADC6}"/>
              </a:ext>
            </a:extLst>
          </p:cNvPr>
          <p:cNvPicPr>
            <a:picLocks noChangeAspect="1"/>
          </p:cNvPicPr>
          <p:nvPr/>
        </p:nvPicPr>
        <p:blipFill>
          <a:blip r:embed="rId8"/>
          <a:stretch>
            <a:fillRect/>
          </a:stretch>
        </p:blipFill>
        <p:spPr>
          <a:xfrm>
            <a:off x="20037632" y="12377884"/>
            <a:ext cx="9066160" cy="5118530"/>
          </a:xfrm>
          <a:prstGeom prst="rect">
            <a:avLst/>
          </a:prstGeom>
        </p:spPr>
      </p:pic>
      <p:sp>
        <p:nvSpPr>
          <p:cNvPr id="13" name="Google Shape;69;p1">
            <a:extLst>
              <a:ext uri="{FF2B5EF4-FFF2-40B4-BE49-F238E27FC236}">
                <a16:creationId xmlns:a16="http://schemas.microsoft.com/office/drawing/2014/main" id="{E519824E-7EED-5F32-B9AD-B329C7744F52}"/>
              </a:ext>
            </a:extLst>
          </p:cNvPr>
          <p:cNvSpPr/>
          <p:nvPr/>
        </p:nvSpPr>
        <p:spPr>
          <a:xfrm>
            <a:off x="20612920" y="27635658"/>
            <a:ext cx="9066160" cy="802276"/>
          </a:xfrm>
          <a:prstGeom prst="rect">
            <a:avLst/>
          </a:prstGeom>
          <a:solidFill>
            <a:srgbClr val="256693"/>
          </a:solidFill>
          <a:ln>
            <a:noFill/>
          </a:ln>
        </p:spPr>
        <p:txBody>
          <a:bodyPr spcFirstLastPara="1" wrap="square" lIns="91425" tIns="45700" rIns="91425" bIns="45700" anchor="ctr" anchorCtr="0">
            <a:noAutofit/>
          </a:bodyPr>
          <a:lstStyle/>
          <a:p>
            <a:pPr algn="ctr"/>
            <a:r>
              <a:rPr lang="en-US" sz="3200" dirty="0">
                <a:solidFill>
                  <a:schemeClr val="lt1"/>
                </a:solidFill>
              </a:rPr>
              <a:t>Fig. 2: Path Following Navigation</a:t>
            </a:r>
            <a:endParaRPr sz="3200" dirty="0"/>
          </a:p>
        </p:txBody>
      </p:sp>
      <p:sp>
        <p:nvSpPr>
          <p:cNvPr id="16" name="Google Shape;42;p1">
            <a:extLst>
              <a:ext uri="{FF2B5EF4-FFF2-40B4-BE49-F238E27FC236}">
                <a16:creationId xmlns:a16="http://schemas.microsoft.com/office/drawing/2014/main" id="{7C22D889-FD34-D420-6B8F-15797C9B01FC}"/>
              </a:ext>
            </a:extLst>
          </p:cNvPr>
          <p:cNvSpPr/>
          <p:nvPr/>
        </p:nvSpPr>
        <p:spPr>
          <a:xfrm>
            <a:off x="9683890" y="12785510"/>
            <a:ext cx="9875520" cy="457200"/>
          </a:xfrm>
          <a:prstGeom prst="rect">
            <a:avLst/>
          </a:prstGeom>
          <a:solidFill>
            <a:srgbClr val="C00000"/>
          </a:solidFill>
          <a:ln>
            <a:noFill/>
          </a:ln>
        </p:spPr>
        <p:txBody>
          <a:bodyPr spcFirstLastPara="1" wrap="square" lIns="48950" tIns="24475" rIns="48950" bIns="24475" anchor="ctr" anchorCtr="0">
            <a:noAutofit/>
          </a:bodyPr>
          <a:lstStyle/>
          <a:p>
            <a:pPr algn="ctr">
              <a:buSzPts val="3200"/>
            </a:pPr>
            <a:r>
              <a:rPr lang="en-US" sz="3200" b="1" dirty="0">
                <a:solidFill>
                  <a:srgbClr val="EDEDED"/>
                </a:solidFill>
                <a:latin typeface="Arial Black"/>
                <a:ea typeface="Arial Black"/>
                <a:cs typeface="Arial Black"/>
                <a:sym typeface="Arial Black"/>
              </a:rPr>
              <a:t>Background</a:t>
            </a:r>
            <a:endParaRPr dirty="0">
              <a:latin typeface="Arial Black"/>
              <a:ea typeface="Arial Black"/>
              <a:cs typeface="Arial Black"/>
              <a:sym typeface="Arial Black"/>
            </a:endParaRPr>
          </a:p>
        </p:txBody>
      </p:sp>
      <mc:AlternateContent xmlns:mc="http://schemas.openxmlformats.org/markup-compatibility/2006">
        <mc:Choice xmlns:a14="http://schemas.microsoft.com/office/drawing/2010/main" Requires="a14">
          <p:sp>
            <p:nvSpPr>
              <p:cNvPr id="22" name="Rectangle 21">
                <a:extLst>
                  <a:ext uri="{FF2B5EF4-FFF2-40B4-BE49-F238E27FC236}">
                    <a16:creationId xmlns:a16="http://schemas.microsoft.com/office/drawing/2014/main" id="{E480F03C-466B-9BFB-8831-8B63DFCCAA59}"/>
                  </a:ext>
                </a:extLst>
              </p:cNvPr>
              <p:cNvSpPr/>
              <p:nvPr/>
            </p:nvSpPr>
            <p:spPr>
              <a:xfrm>
                <a:off x="20075526" y="4469834"/>
                <a:ext cx="11334925" cy="8344528"/>
              </a:xfrm>
              <a:prstGeom prst="rect">
                <a:avLst/>
              </a:prstGeom>
            </p:spPr>
            <p:txBody>
              <a:bodyPr wrap="square">
                <a:spAutoFit/>
              </a:bodyPr>
              <a:lstStyle/>
              <a:p>
                <a:pPr marL="457200" indent="-457200">
                  <a:buFont typeface="Wingdings" panose="05000000000000000000" pitchFamily="2" charset="2"/>
                  <a:buChar char="q"/>
                </a:pPr>
                <a:r>
                  <a:rPr lang="en-US" sz="3200" b="1" dirty="0">
                    <a:latin typeface="+mj-lt"/>
                  </a:rPr>
                  <a:t>Human Detection and Tracking Method</a:t>
                </a:r>
              </a:p>
              <a:p>
                <a:endParaRPr lang="en-US" sz="3200" b="1" dirty="0">
                  <a:latin typeface="+mj-lt"/>
                </a:endParaRPr>
              </a:p>
              <a:p>
                <a:pPr marL="457200" indent="-457200" algn="just">
                  <a:buFont typeface="Wingdings" panose="05000000000000000000" pitchFamily="2" charset="2"/>
                  <a:buChar char="Ø"/>
                </a:pPr>
                <a:r>
                  <a:rPr lang="en-US" sz="3200" dirty="0">
                    <a:latin typeface="+mj-lt"/>
                  </a:rPr>
                  <a:t>Human pose detection is performed using the </a:t>
                </a:r>
                <a:r>
                  <a:rPr lang="en-US" sz="3200" dirty="0" err="1">
                    <a:latin typeface="+mj-lt"/>
                  </a:rPr>
                  <a:t>CVZone</a:t>
                </a:r>
                <a:r>
                  <a:rPr lang="en-US" sz="3200" dirty="0">
                    <a:latin typeface="+mj-lt"/>
                  </a:rPr>
                  <a:t> Pose Detector, which extracts body landmarks and bounding box information.</a:t>
                </a:r>
              </a:p>
              <a:p>
                <a:pPr marL="457200" indent="-457200">
                  <a:buFont typeface="Wingdings" panose="05000000000000000000" pitchFamily="2" charset="2"/>
                  <a:buChar char="Ø"/>
                </a:pPr>
                <a:r>
                  <a:rPr lang="en-US" sz="3200" b="1" dirty="0">
                    <a:latin typeface="+mj-lt"/>
                  </a:rPr>
                  <a:t>Linear velocity (v) control</a:t>
                </a:r>
                <a:endParaRPr lang="en-US" sz="3200" dirty="0">
                  <a:latin typeface="+mj-lt"/>
                </a:endParaRPr>
              </a:p>
              <a:p>
                <a:r>
                  <a:rPr lang="en-US" sz="3200" dirty="0">
                    <a:latin typeface="+mj-lt"/>
                  </a:rPr>
                  <a:t>        Distance is approximated using the bounding box height:</a:t>
                </a:r>
              </a:p>
              <a:p>
                <a:pPr marL="457200" indent="-457200">
                  <a:buFont typeface="Wingdings" panose="05000000000000000000" pitchFamily="2" charset="2"/>
                  <a:buChar char="Ø"/>
                </a:pPr>
                <a:r>
                  <a:rPr lang="en-US" sz="3200" dirty="0">
                    <a:latin typeface="+mj-lt"/>
                  </a:rPr>
                  <a:t>         </a:t>
                </a:r>
                <a14:m>
                  <m:oMath xmlns:m="http://schemas.openxmlformats.org/officeDocument/2006/math">
                    <m:r>
                      <a:rPr lang="en-US" sz="3200" i="1">
                        <a:latin typeface="Cambria Math" panose="02040503050406030204" pitchFamily="18" charset="0"/>
                      </a:rPr>
                      <m:t>𝑣</m:t>
                    </m:r>
                    <m:r>
                      <a:rPr lang="en-US" sz="3200" i="1">
                        <a:latin typeface="Cambria Math" panose="02040503050406030204" pitchFamily="18" charset="0"/>
                      </a:rPr>
                      <m:t>=</m:t>
                    </m:r>
                  </m:oMath>
                </a14:m>
                <a:r>
                  <a:rPr lang="en-US" sz="3200" i="1" dirty="0">
                    <a:latin typeface="+mj-lt"/>
                  </a:rPr>
                  <a:t>   </a:t>
                </a:r>
                <a14:m>
                  <m:oMath xmlns:m="http://schemas.openxmlformats.org/officeDocument/2006/math">
                    <m:d>
                      <m:dPr>
                        <m:begChr m:val="{"/>
                        <m:endChr m:val=""/>
                        <m:ctrlPr>
                          <a:rPr lang="en-US" sz="3200" i="1">
                            <a:latin typeface="Cambria Math" panose="02040503050406030204" pitchFamily="18" charset="0"/>
                          </a:rPr>
                        </m:ctrlPr>
                      </m:dPr>
                      <m:e>
                        <m:eqArr>
                          <m:eqArrPr>
                            <m:ctrlPr>
                              <a:rPr lang="en-US" sz="3200" i="1">
                                <a:latin typeface="Cambria Math" panose="02040503050406030204" pitchFamily="18" charset="0"/>
                              </a:rPr>
                            </m:ctrlPr>
                          </m:eqArrPr>
                          <m:e>
                            <m:r>
                              <a:rPr lang="en-US" sz="3200" i="1">
                                <a:latin typeface="Cambria Math" panose="02040503050406030204" pitchFamily="18" charset="0"/>
                              </a:rPr>
                              <m:t>0   </m:t>
                            </m:r>
                            <m:r>
                              <a:rPr lang="en-US" sz="3200" i="1">
                                <a:latin typeface="Cambria Math" panose="02040503050406030204" pitchFamily="18" charset="0"/>
                              </a:rPr>
                              <m:t>𝑖𝑓</m:t>
                            </m:r>
                            <m:r>
                              <a:rPr lang="en-US" sz="3200" i="1">
                                <a:latin typeface="Cambria Math" panose="02040503050406030204" pitchFamily="18" charset="0"/>
                              </a:rPr>
                              <m:t> </m:t>
                            </m:r>
                            <m:r>
                              <a:rPr lang="en-US" sz="3200" i="1">
                                <a:latin typeface="Cambria Math" panose="02040503050406030204" pitchFamily="18" charset="0"/>
                              </a:rPr>
                              <m:t>h</m:t>
                            </m:r>
                            <m:r>
                              <a:rPr lang="en-US" sz="3200" i="1">
                                <a:latin typeface="Cambria Math" panose="02040503050406030204" pitchFamily="18" charset="0"/>
                              </a:rPr>
                              <m:t>&gt;</m:t>
                            </m:r>
                            <m:sSub>
                              <m:sSubPr>
                                <m:ctrlPr>
                                  <a:rPr lang="en-US" sz="3200" i="1">
                                    <a:latin typeface="Cambria Math" panose="02040503050406030204" pitchFamily="18" charset="0"/>
                                  </a:rPr>
                                </m:ctrlPr>
                              </m:sSubPr>
                              <m:e>
                                <m:r>
                                  <a:rPr lang="en-US" sz="3200" i="1">
                                    <a:latin typeface="Cambria Math" panose="02040503050406030204" pitchFamily="18" charset="0"/>
                                  </a:rPr>
                                  <m:t>h</m:t>
                                </m:r>
                              </m:e>
                              <m:sub>
                                <m:r>
                                  <a:rPr lang="en-US" sz="3200" i="1">
                                    <a:latin typeface="Cambria Math" panose="02040503050406030204" pitchFamily="18" charset="0"/>
                                  </a:rPr>
                                  <m:t>𝑡h𝑟𝑒𝑠h𝑜𝑙𝑑</m:t>
                                </m:r>
                              </m:sub>
                            </m:sSub>
                          </m:e>
                          <m:e>
                            <m:r>
                              <a:rPr lang="en-US" sz="3200" i="1">
                                <a:latin typeface="Cambria Math" panose="02040503050406030204" pitchFamily="18" charset="0"/>
                              </a:rPr>
                              <m:t>𝑣𝑚</m:t>
                            </m:r>
                            <m:r>
                              <a:rPr lang="en-US" sz="3200" i="1">
                                <a:latin typeface="Cambria Math" panose="02040503050406030204" pitchFamily="18" charset="0"/>
                              </a:rPr>
                              <m:t>   </m:t>
                            </m:r>
                            <m:r>
                              <a:rPr lang="en-US" sz="3200" i="1">
                                <a:latin typeface="Cambria Math" panose="02040503050406030204" pitchFamily="18" charset="0"/>
                              </a:rPr>
                              <m:t>𝑜𝑡h𝑒𝑟𝑤𝑖𝑠𝑒</m:t>
                            </m:r>
                            <m:r>
                              <a:rPr lang="en-US" sz="3200" i="1">
                                <a:latin typeface="Cambria Math" panose="02040503050406030204" pitchFamily="18" charset="0"/>
                              </a:rPr>
                              <m:t> </m:t>
                            </m:r>
                          </m:e>
                        </m:eqArr>
                      </m:e>
                    </m:d>
                  </m:oMath>
                </a14:m>
                <a:endParaRPr lang="en-US" sz="3200" dirty="0">
                  <a:latin typeface="+mj-lt"/>
                </a:endParaRPr>
              </a:p>
              <a:p>
                <a:pPr marL="457200" indent="-457200">
                  <a:buFont typeface="Wingdings" panose="05000000000000000000" pitchFamily="2" charset="2"/>
                  <a:buChar char="Ø"/>
                </a:pPr>
                <a:r>
                  <a:rPr lang="en-US" sz="3200" dirty="0">
                    <a:latin typeface="+mj-lt"/>
                  </a:rPr>
                  <a:t>Where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𝑣</m:t>
                        </m:r>
                      </m:e>
                      <m:sub>
                        <m:r>
                          <a:rPr lang="en-US" sz="3200" i="1">
                            <a:latin typeface="Cambria Math" panose="02040503050406030204" pitchFamily="18" charset="0"/>
                          </a:rPr>
                          <m:t>𝑚𝑎𝑥</m:t>
                        </m:r>
                      </m:sub>
                    </m:sSub>
                    <m:r>
                      <a:rPr lang="en-US" sz="3200" i="1">
                        <a:latin typeface="Cambria Math" panose="02040503050406030204" pitchFamily="18" charset="0"/>
                      </a:rPr>
                      <m:t>=0.5</m:t>
                    </m:r>
                    <m:r>
                      <a:rPr lang="en-US" sz="3200" i="1">
                        <a:latin typeface="Cambria Math" panose="02040503050406030204" pitchFamily="18" charset="0"/>
                      </a:rPr>
                      <m:t>𝑚</m:t>
                    </m:r>
                    <m:r>
                      <a:rPr lang="en-US" sz="3200" i="1">
                        <a:latin typeface="Cambria Math" panose="02040503050406030204" pitchFamily="18" charset="0"/>
                      </a:rPr>
                      <m:t>/</m:t>
                    </m:r>
                    <m:r>
                      <a:rPr lang="en-US" sz="3200" i="1">
                        <a:latin typeface="Cambria Math" panose="02040503050406030204" pitchFamily="18" charset="0"/>
                      </a:rPr>
                      <m:t>𝑠</m:t>
                    </m:r>
                  </m:oMath>
                </a14:m>
                <a:endParaRPr lang="en-US" sz="3200" b="1" dirty="0">
                  <a:latin typeface="+mj-lt"/>
                </a:endParaRPr>
              </a:p>
              <a:p>
                <a:pPr marL="457200" indent="-457200">
                  <a:buFont typeface="Wingdings" panose="05000000000000000000" pitchFamily="2" charset="2"/>
                  <a:buChar char="Ø"/>
                </a:pPr>
                <a:r>
                  <a:rPr lang="en-US" sz="3200" b="1" dirty="0">
                    <a:latin typeface="+mj-lt"/>
                  </a:rPr>
                  <a:t>Angular velocity control</a:t>
                </a:r>
                <a:endParaRPr lang="en-US" sz="3200" dirty="0">
                  <a:latin typeface="+mj-lt"/>
                </a:endParaRPr>
              </a:p>
              <a:p>
                <a:pPr marL="457200" indent="-457200">
                  <a:buFont typeface="Wingdings" panose="05000000000000000000" pitchFamily="2" charset="2"/>
                  <a:buChar char="Ø"/>
                </a:pPr>
                <a14:m>
                  <m:oMath xmlns:m="http://schemas.openxmlformats.org/officeDocument/2006/math">
                    <m:r>
                      <a:rPr lang="en-US" sz="3200" i="1">
                        <a:latin typeface="Cambria Math" panose="02040503050406030204" pitchFamily="18" charset="0"/>
                      </a:rPr>
                      <m:t>𝑓</m:t>
                    </m:r>
                    <m:d>
                      <m:dPr>
                        <m:ctrlPr>
                          <a:rPr lang="en-US" sz="3200" i="1">
                            <a:latin typeface="Cambria Math" panose="02040503050406030204" pitchFamily="18" charset="0"/>
                          </a:rPr>
                        </m:ctrlPr>
                      </m:dPr>
                      <m:e>
                        <m:r>
                          <a:rPr lang="en-US" sz="3200" i="1">
                            <a:latin typeface="Cambria Math" panose="02040503050406030204" pitchFamily="18" charset="0"/>
                          </a:rPr>
                          <m:t>𝑥</m:t>
                        </m:r>
                      </m:e>
                    </m:d>
                    <m:r>
                      <a:rPr lang="en-US" sz="3200" i="1">
                        <a:latin typeface="Cambria Math" panose="02040503050406030204" pitchFamily="18" charset="0"/>
                      </a:rPr>
                      <m:t>=</m:t>
                    </m:r>
                    <m:d>
                      <m:dPr>
                        <m:begChr m:val="{"/>
                        <m:endChr m:val=""/>
                        <m:ctrlPr>
                          <a:rPr lang="en-US" sz="3200" i="1">
                            <a:latin typeface="Cambria Math" panose="02040503050406030204" pitchFamily="18" charset="0"/>
                          </a:rPr>
                        </m:ctrlPr>
                      </m:dPr>
                      <m:e>
                        <m:eqArr>
                          <m:eqArrPr>
                            <m:ctrlPr>
                              <a:rPr lang="en-US" sz="3200" i="1">
                                <a:latin typeface="Cambria Math" panose="02040503050406030204" pitchFamily="18" charset="0"/>
                              </a:rPr>
                            </m:ctrlPr>
                          </m:eqArrPr>
                          <m:e>
                            <m:r>
                              <a:rPr lang="en-US" sz="3200" i="1">
                                <a:latin typeface="Cambria Math" panose="02040503050406030204" pitchFamily="18" charset="0"/>
                              </a:rPr>
                              <m:t>−</m:t>
                            </m:r>
                            <m:r>
                              <a:rPr lang="en-US" sz="3200" i="1">
                                <a:latin typeface="Cambria Math" panose="02040503050406030204" pitchFamily="18" charset="0"/>
                              </a:rPr>
                              <m:t>𝑥</m:t>
                            </m:r>
                            <m:r>
                              <a:rPr lang="en-US" sz="3200" i="1">
                                <a:latin typeface="Cambria Math" panose="02040503050406030204" pitchFamily="18" charset="0"/>
                              </a:rPr>
                              <m:t>,  </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𝑒</m:t>
                                </m:r>
                              </m:e>
                            </m:d>
                            <m:r>
                              <a:rPr lang="en-US" sz="3200" i="1">
                                <a:latin typeface="Cambria Math" panose="02040503050406030204" pitchFamily="18" charset="0"/>
                              </a:rPr>
                              <m:t>&lt;</m:t>
                            </m:r>
                            <m:r>
                              <a:rPr lang="en-US" sz="3200" i="1">
                                <a:latin typeface="Cambria Math" panose="02040503050406030204" pitchFamily="18" charset="0"/>
                              </a:rPr>
                              <m:t>𝜖</m:t>
                            </m:r>
                          </m:e>
                          <m:e>
                            <m:r>
                              <a:rPr lang="en-US" sz="3200" i="1">
                                <a:latin typeface="Cambria Math" panose="02040503050406030204" pitchFamily="18" charset="0"/>
                              </a:rPr>
                              <m:t>𝑥𝑚𝑎𝑥</m:t>
                            </m:r>
                            <m:r>
                              <a:rPr lang="en-US" sz="3200" i="1">
                                <a:latin typeface="Cambria Math" panose="02040503050406030204" pitchFamily="18" charset="0"/>
                              </a:rPr>
                              <m:t>   </m:t>
                            </m:r>
                            <m:r>
                              <a:rPr lang="en-US" sz="3200" i="1">
                                <a:latin typeface="Cambria Math" panose="02040503050406030204" pitchFamily="18" charset="0"/>
                              </a:rPr>
                              <m:t>𝑒</m:t>
                            </m:r>
                            <m:r>
                              <a:rPr lang="en-US" sz="3200" i="1">
                                <a:latin typeface="Cambria Math" panose="02040503050406030204" pitchFamily="18" charset="0"/>
                              </a:rPr>
                              <m:t>&lt;−</m:t>
                            </m:r>
                            <m:r>
                              <a:rPr lang="en-US" sz="3200" i="1">
                                <a:latin typeface="Cambria Math" panose="02040503050406030204" pitchFamily="18" charset="0"/>
                              </a:rPr>
                              <m:t>𝜖</m:t>
                            </m:r>
                          </m:e>
                          <m:e>
                            <m:r>
                              <a:rPr lang="en-US" sz="3200" i="1">
                                <a:latin typeface="Cambria Math" panose="02040503050406030204" pitchFamily="18" charset="0"/>
                              </a:rPr>
                              <m:t> −</m:t>
                            </m:r>
                            <m:r>
                              <a:rPr lang="en-US" sz="3200" i="1">
                                <a:latin typeface="Cambria Math" panose="02040503050406030204" pitchFamily="18" charset="0"/>
                              </a:rPr>
                              <m:t>𝜔</m:t>
                            </m:r>
                            <m:r>
                              <a:rPr lang="en-US" sz="3200" i="1">
                                <a:latin typeface="Cambria Math" panose="02040503050406030204" pitchFamily="18" charset="0"/>
                              </a:rPr>
                              <m:t>𝑚𝑎𝑥</m:t>
                            </m:r>
                            <m:r>
                              <a:rPr lang="en-US" sz="3200" i="1">
                                <a:latin typeface="Cambria Math" panose="02040503050406030204" pitchFamily="18" charset="0"/>
                              </a:rPr>
                              <m:t> </m:t>
                            </m:r>
                            <m:r>
                              <a:rPr lang="en-US" sz="3200" i="1">
                                <a:latin typeface="Cambria Math" panose="02040503050406030204" pitchFamily="18" charset="0"/>
                              </a:rPr>
                              <m:t>𝑒</m:t>
                            </m:r>
                            <m:r>
                              <a:rPr lang="en-US" sz="3200" i="1">
                                <a:latin typeface="Cambria Math" panose="02040503050406030204" pitchFamily="18" charset="0"/>
                              </a:rPr>
                              <m:t>&gt;</m:t>
                            </m:r>
                            <m:r>
                              <a:rPr lang="en-US" sz="3200" i="1">
                                <a:latin typeface="Cambria Math" panose="02040503050406030204" pitchFamily="18" charset="0"/>
                              </a:rPr>
                              <m:t>𝜖</m:t>
                            </m:r>
                          </m:e>
                        </m:eqArr>
                      </m:e>
                    </m:d>
                  </m:oMath>
                </a14:m>
                <a:endParaRPr lang="en-US" sz="3200" dirty="0">
                  <a:latin typeface="+mj-lt"/>
                </a:endParaRPr>
              </a:p>
              <a:p>
                <a:r>
                  <a:rPr lang="en-US" sz="3200" dirty="0">
                    <a:latin typeface="+mj-lt"/>
                  </a:rPr>
                  <a:t>Where  </a:t>
                </a:r>
                <a14:m>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𝑣</m:t>
                        </m:r>
                      </m:e>
                      <m:sub>
                        <m:r>
                          <a:rPr lang="en-US" sz="3200" i="1">
                            <a:latin typeface="Cambria Math" panose="02040503050406030204" pitchFamily="18" charset="0"/>
                          </a:rPr>
                          <m:t>𝑚𝑎𝑥</m:t>
                        </m:r>
                      </m:sub>
                    </m:sSub>
                    <m:r>
                      <a:rPr lang="en-US" sz="3200" i="1">
                        <a:latin typeface="Cambria Math" panose="02040503050406030204" pitchFamily="18" charset="0"/>
                      </a:rPr>
                      <m:t>=0.5</m:t>
                    </m:r>
                    <m:r>
                      <a:rPr lang="en-US" sz="3200" i="1">
                        <a:latin typeface="Cambria Math" panose="02040503050406030204" pitchFamily="18" charset="0"/>
                      </a:rPr>
                      <m:t>𝑚</m:t>
                    </m:r>
                    <m:f>
                      <m:fPr>
                        <m:ctrlPr>
                          <a:rPr lang="en-US" sz="3200" i="1">
                            <a:latin typeface="Cambria Math" panose="02040503050406030204" pitchFamily="18" charset="0"/>
                          </a:rPr>
                        </m:ctrlPr>
                      </m:fPr>
                      <m:num>
                        <m:r>
                          <a:rPr lang="en-US" sz="3200" i="1">
                            <a:latin typeface="Cambria Math" panose="02040503050406030204" pitchFamily="18" charset="0"/>
                          </a:rPr>
                          <m:t>𝑟𝑎𝑑</m:t>
                        </m:r>
                      </m:num>
                      <m:den>
                        <m:r>
                          <a:rPr lang="en-US" sz="3200" i="1">
                            <a:latin typeface="Cambria Math" panose="02040503050406030204" pitchFamily="18" charset="0"/>
                          </a:rPr>
                          <m:t>𝑠</m:t>
                        </m:r>
                      </m:den>
                    </m:f>
                    <m:r>
                      <a:rPr lang="en-US" sz="3200" i="1">
                        <a:latin typeface="Cambria Math" panose="02040503050406030204" pitchFamily="18" charset="0"/>
                      </a:rPr>
                      <m:t>, </m:t>
                    </m:r>
                    <m:r>
                      <a:rPr lang="en-US" sz="3200" i="1">
                        <a:latin typeface="Cambria Math" panose="02040503050406030204" pitchFamily="18" charset="0"/>
                      </a:rPr>
                      <m:t>𝜖</m:t>
                    </m:r>
                    <m:r>
                      <a:rPr lang="en-US" sz="3200" i="1">
                        <a:latin typeface="Cambria Math" panose="02040503050406030204" pitchFamily="18" charset="0"/>
                      </a:rPr>
                      <m:t>=</m:t>
                    </m:r>
                    <m:r>
                      <a:rPr lang="en-US" sz="3200" i="1">
                        <a:latin typeface="Cambria Math" panose="02040503050406030204" pitchFamily="18" charset="0"/>
                      </a:rPr>
                      <m:t>𝑐𝑒𝑛𝑡𝑒𝑟</m:t>
                    </m:r>
                    <m:r>
                      <a:rPr lang="en-US" sz="3200" i="1">
                        <a:latin typeface="Cambria Math" panose="02040503050406030204" pitchFamily="18" charset="0"/>
                      </a:rPr>
                      <m:t> </m:t>
                    </m:r>
                    <m:r>
                      <a:rPr lang="en-US" sz="3200" i="1">
                        <a:latin typeface="Cambria Math" panose="02040503050406030204" pitchFamily="18" charset="0"/>
                      </a:rPr>
                      <m:t>𝑜𝑓</m:t>
                    </m:r>
                    <m:r>
                      <a:rPr lang="en-US" sz="3200" i="1">
                        <a:latin typeface="Cambria Math" panose="02040503050406030204" pitchFamily="18" charset="0"/>
                      </a:rPr>
                      <m:t> </m:t>
                    </m:r>
                    <m:r>
                      <a:rPr lang="en-US" sz="3200" i="1">
                        <a:latin typeface="Cambria Math" panose="02040503050406030204" pitchFamily="18" charset="0"/>
                      </a:rPr>
                      <m:t>𝑡𝑜𝑙𝑒𝑟𝑎𝑛𝑐𝑒</m:t>
                    </m:r>
                  </m:oMath>
                </a14:m>
                <a:endParaRPr lang="en-US" sz="3200" dirty="0">
                  <a:latin typeface="+mj-lt"/>
                </a:endParaRPr>
              </a:p>
              <a:p>
                <a:pPr marL="457200" indent="-457200">
                  <a:buFont typeface="Wingdings" panose="05000000000000000000" pitchFamily="2" charset="2"/>
                  <a:buChar char="q"/>
                </a:pPr>
                <a:endParaRPr lang="en-US" sz="2800" dirty="0"/>
              </a:p>
            </p:txBody>
          </p:sp>
        </mc:Choice>
        <mc:Fallback>
          <p:sp>
            <p:nvSpPr>
              <p:cNvPr id="22" name="Rectangle 21">
                <a:extLst>
                  <a:ext uri="{FF2B5EF4-FFF2-40B4-BE49-F238E27FC236}">
                    <a16:creationId xmlns:a16="http://schemas.microsoft.com/office/drawing/2014/main" id="{E480F03C-466B-9BFB-8831-8B63DFCCAA59}"/>
                  </a:ext>
                </a:extLst>
              </p:cNvPr>
              <p:cNvSpPr>
                <a:spLocks noRot="1" noChangeAspect="1" noMove="1" noResize="1" noEditPoints="1" noAdjustHandles="1" noChangeArrowheads="1" noChangeShapeType="1" noTextEdit="1"/>
              </p:cNvSpPr>
              <p:nvPr/>
            </p:nvSpPr>
            <p:spPr>
              <a:xfrm>
                <a:off x="20075526" y="4469834"/>
                <a:ext cx="11334925" cy="8344528"/>
              </a:xfrm>
              <a:prstGeom prst="rect">
                <a:avLst/>
              </a:prstGeom>
              <a:blipFill>
                <a:blip r:embed="rId9"/>
                <a:stretch>
                  <a:fillRect l="-1344" t="-950" r="-134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Rectangle 29">
                <a:extLst>
                  <a:ext uri="{FF2B5EF4-FFF2-40B4-BE49-F238E27FC236}">
                    <a16:creationId xmlns:a16="http://schemas.microsoft.com/office/drawing/2014/main" id="{FCF638BF-4470-0737-AB84-DCBF24EA1E07}"/>
                  </a:ext>
                </a:extLst>
              </p:cNvPr>
              <p:cNvSpPr/>
              <p:nvPr/>
            </p:nvSpPr>
            <p:spPr>
              <a:xfrm>
                <a:off x="20110376" y="18231204"/>
                <a:ext cx="10403178" cy="4145558"/>
              </a:xfrm>
              <a:prstGeom prst="rect">
                <a:avLst/>
              </a:prstGeom>
            </p:spPr>
            <p:txBody>
              <a:bodyPr wrap="square">
                <a:spAutoFit/>
              </a:bodyPr>
              <a:lstStyle/>
              <a:p>
                <a:pPr marL="457200" indent="-457200">
                  <a:buFont typeface="Wingdings" panose="05000000000000000000" pitchFamily="2" charset="2"/>
                  <a:buChar char="q"/>
                </a:pPr>
                <a:r>
                  <a:rPr lang="en-US" sz="3200" b="1" dirty="0">
                    <a:latin typeface="+mj-lt"/>
                  </a:rPr>
                  <a:t>Path Navigation Method</a:t>
                </a:r>
              </a:p>
              <a:p>
                <a:pPr marL="457200" indent="-457200">
                  <a:buFont typeface="Wingdings" panose="05000000000000000000" pitchFamily="2" charset="2"/>
                  <a:buChar char="Ø"/>
                </a:pPr>
                <a:r>
                  <a:rPr lang="en-US" sz="3200" dirty="0">
                    <a:latin typeface="+mj-lt"/>
                  </a:rPr>
                  <a:t>The model classifies each pixel as either</a:t>
                </a:r>
              </a:p>
              <a:p>
                <a:r>
                  <a:rPr lang="en-US" sz="3200" dirty="0">
                    <a:latin typeface="+mn-lt"/>
                  </a:rPr>
                  <a:t> </a:t>
                </a:r>
                <a14:m>
                  <m:oMath xmlns:m="http://schemas.openxmlformats.org/officeDocument/2006/math">
                    <m:r>
                      <a:rPr lang="en-US" sz="3200">
                        <a:latin typeface="Cambria Math" panose="02040503050406030204" pitchFamily="18" charset="0"/>
                      </a:rPr>
                      <m:t>                       </m:t>
                    </m:r>
                    <m:r>
                      <m:rPr>
                        <m:nor/>
                      </m:rPr>
                      <a:rPr lang="en-US" sz="3200" i="1">
                        <a:latin typeface="+mn-lt"/>
                      </a:rPr>
                      <m:t>Path</m:t>
                    </m:r>
                    <m:r>
                      <a:rPr lang="en-US" sz="3200" i="1">
                        <a:latin typeface="Cambria Math" panose="02040503050406030204" pitchFamily="18" charset="0"/>
                      </a:rPr>
                      <m:t>=1,</m:t>
                    </m:r>
                    <m:r>
                      <m:rPr>
                        <m:nor/>
                      </m:rPr>
                      <a:rPr lang="en-US" sz="3200" i="1">
                        <a:latin typeface="+mn-lt"/>
                      </a:rPr>
                      <m:t> </m:t>
                    </m:r>
                    <m:r>
                      <m:rPr>
                        <m:nor/>
                      </m:rPr>
                      <a:rPr lang="en-US" sz="3200" i="1">
                        <a:latin typeface="+mn-lt"/>
                      </a:rPr>
                      <m:t>Non</m:t>
                    </m:r>
                    <m:r>
                      <m:rPr>
                        <m:nor/>
                      </m:rPr>
                      <a:rPr lang="en-US" sz="3200" i="1">
                        <a:latin typeface="+mn-lt"/>
                      </a:rPr>
                      <m:t> − </m:t>
                    </m:r>
                    <m:r>
                      <m:rPr>
                        <m:nor/>
                      </m:rPr>
                      <a:rPr lang="en-US" sz="3200" i="1">
                        <a:latin typeface="+mn-lt"/>
                      </a:rPr>
                      <m:t>Path</m:t>
                    </m:r>
                    <m:r>
                      <a:rPr lang="en-US" sz="3200" i="1">
                        <a:latin typeface="Cambria Math" panose="02040503050406030204" pitchFamily="18" charset="0"/>
                      </a:rPr>
                      <m:t>=0</m:t>
                    </m:r>
                  </m:oMath>
                </a14:m>
                <a:br>
                  <a:rPr lang="en-US" sz="3200" dirty="0">
                    <a:latin typeface="+mn-lt"/>
                  </a:rPr>
                </a:br>
                <a:endParaRPr lang="en-US" sz="3200" dirty="0">
                  <a:latin typeface="+mn-lt"/>
                </a:endParaRPr>
              </a:p>
              <a:p>
                <a:r>
                  <a:rPr lang="en-US" sz="3200" b="1" dirty="0"/>
                  <a:t>Step 1: Binary Path Mask</a:t>
                </a:r>
                <a:endParaRPr lang="en-US" sz="3200" dirty="0"/>
              </a:p>
              <a:p>
                <a:pPr marL="457200" indent="-457200">
                  <a:buFont typeface="Wingdings" panose="05000000000000000000" pitchFamily="2" charset="2"/>
                  <a:buChar char="Ø"/>
                </a:pPr>
                <a:r>
                  <a:rPr lang="en-US" sz="3200" dirty="0"/>
                  <a:t>The deep learning model outputs a binary image</a:t>
                </a:r>
                <a:r>
                  <a:rPr lang="en-US" sz="3200" i="1" dirty="0"/>
                  <a:t>:</a:t>
                </a:r>
                <a:endParaRPr lang="en-US" sz="3200" dirty="0"/>
              </a:p>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𝑀</m:t>
                      </m:r>
                      <m:r>
                        <a:rPr lang="en-US" sz="3200" i="1">
                          <a:latin typeface="Cambria Math" panose="02040503050406030204" pitchFamily="18" charset="0"/>
                        </a:rPr>
                        <m:t>(</m:t>
                      </m:r>
                      <m:r>
                        <a:rPr lang="en-US" sz="3200" i="1">
                          <a:latin typeface="Cambria Math" panose="02040503050406030204" pitchFamily="18" charset="0"/>
                        </a:rPr>
                        <m:t>𝑥</m:t>
                      </m:r>
                      <m:r>
                        <a:rPr lang="en-US" sz="3200" i="1">
                          <a:latin typeface="Cambria Math" panose="02040503050406030204" pitchFamily="18" charset="0"/>
                        </a:rPr>
                        <m:t>,</m:t>
                      </m:r>
                      <m:r>
                        <a:rPr lang="en-US" sz="3200" i="1">
                          <a:latin typeface="Cambria Math" panose="02040503050406030204" pitchFamily="18" charset="0"/>
                        </a:rPr>
                        <m:t>𝑦</m:t>
                      </m:r>
                      <m:r>
                        <a:rPr lang="en-US" sz="3200" i="1">
                          <a:latin typeface="Cambria Math" panose="02040503050406030204" pitchFamily="18" charset="0"/>
                        </a:rPr>
                        <m:t>)=</m:t>
                      </m:r>
                      <m:d>
                        <m:dPr>
                          <m:begChr m:val="{"/>
                          <m:endChr m:val=""/>
                          <m:ctrlPr>
                            <a:rPr lang="en-US" sz="3200" i="1">
                              <a:latin typeface="Cambria Math" panose="02040503050406030204" pitchFamily="18" charset="0"/>
                            </a:rPr>
                          </m:ctrlPr>
                        </m:dPr>
                        <m:e>
                          <m:m>
                            <m:mPr>
                              <m:plcHide m:val="on"/>
                              <m:mcs>
                                <m:mc>
                                  <m:mcPr>
                                    <m:count m:val="2"/>
                                    <m:mcJc m:val="center"/>
                                  </m:mcPr>
                                </m:mc>
                              </m:mcs>
                              <m:ctrlPr>
                                <a:rPr lang="en-US" sz="3200" i="1">
                                  <a:latin typeface="Cambria Math" panose="02040503050406030204" pitchFamily="18" charset="0"/>
                                </a:rPr>
                              </m:ctrlPr>
                            </m:mPr>
                            <m:mr>
                              <m:e>
                                <m:r>
                                  <a:rPr lang="en-US" sz="3200" i="1">
                                    <a:latin typeface="Cambria Math" panose="02040503050406030204" pitchFamily="18" charset="0"/>
                                  </a:rPr>
                                  <m:t>1</m:t>
                                </m:r>
                              </m:e>
                              <m:e>
                                <m:r>
                                  <m:rPr>
                                    <m:nor/>
                                  </m:rPr>
                                  <a:rPr lang="en-US" sz="3200" i="1"/>
                                  <m:t>drivable</m:t>
                                </m:r>
                                <m:r>
                                  <m:rPr>
                                    <m:nor/>
                                  </m:rPr>
                                  <a:rPr lang="en-US" sz="3200" i="1"/>
                                  <m:t> </m:t>
                                </m:r>
                                <m:r>
                                  <m:rPr>
                                    <m:nor/>
                                  </m:rPr>
                                  <a:rPr lang="en-US" sz="3200" i="1"/>
                                  <m:t>path</m:t>
                                </m:r>
                              </m:e>
                            </m:mr>
                            <m:mr>
                              <m:e>
                                <m:r>
                                  <a:rPr lang="en-US" sz="3200" i="1">
                                    <a:latin typeface="Cambria Math" panose="02040503050406030204" pitchFamily="18" charset="0"/>
                                  </a:rPr>
                                  <m:t>0</m:t>
                                </m:r>
                              </m:e>
                              <m:e>
                                <m:r>
                                  <m:rPr>
                                    <m:nor/>
                                  </m:rPr>
                                  <a:rPr lang="en-US" sz="3200" i="1"/>
                                  <m:t>non</m:t>
                                </m:r>
                                <m:r>
                                  <m:rPr>
                                    <m:nor/>
                                  </m:rPr>
                                  <a:rPr lang="en-US" sz="3200" i="1"/>
                                  <m:t>−</m:t>
                                </m:r>
                                <m:r>
                                  <m:rPr>
                                    <m:nor/>
                                  </m:rPr>
                                  <a:rPr lang="en-US" sz="3200" i="1"/>
                                  <m:t>path</m:t>
                                </m:r>
                              </m:e>
                            </m:mr>
                          </m:m>
                        </m:e>
                      </m:d>
                    </m:oMath>
                  </m:oMathPara>
                </a14:m>
                <a:br>
                  <a:rPr lang="en-US" i="1" dirty="0"/>
                </a:br>
                <a:endParaRPr lang="en-US" sz="2800" dirty="0"/>
              </a:p>
            </p:txBody>
          </p:sp>
        </mc:Choice>
        <mc:Fallback>
          <p:sp>
            <p:nvSpPr>
              <p:cNvPr id="30" name="Rectangle 29">
                <a:extLst>
                  <a:ext uri="{FF2B5EF4-FFF2-40B4-BE49-F238E27FC236}">
                    <a16:creationId xmlns:a16="http://schemas.microsoft.com/office/drawing/2014/main" id="{FCF638BF-4470-0737-AB84-DCBF24EA1E07}"/>
                  </a:ext>
                </a:extLst>
              </p:cNvPr>
              <p:cNvSpPr>
                <a:spLocks noRot="1" noChangeAspect="1" noMove="1" noResize="1" noEditPoints="1" noAdjustHandles="1" noChangeArrowheads="1" noChangeShapeType="1" noTextEdit="1"/>
              </p:cNvSpPr>
              <p:nvPr/>
            </p:nvSpPr>
            <p:spPr>
              <a:xfrm>
                <a:off x="20110376" y="18231204"/>
                <a:ext cx="10403178" cy="4145558"/>
              </a:xfrm>
              <a:prstGeom prst="rect">
                <a:avLst/>
              </a:prstGeom>
              <a:blipFill>
                <a:blip r:embed="rId10"/>
                <a:stretch>
                  <a:fillRect l="-1523" t="-1912"/>
                </a:stretch>
              </a:blipFill>
            </p:spPr>
            <p:txBody>
              <a:bodyPr/>
              <a:lstStyle/>
              <a:p>
                <a:r>
                  <a:rPr lang="en-US">
                    <a:noFill/>
                  </a:rPr>
                  <a:t> </a:t>
                </a:r>
              </a:p>
            </p:txBody>
          </p:sp>
        </mc:Fallback>
      </mc:AlternateContent>
      <p:pic>
        <p:nvPicPr>
          <p:cNvPr id="32" name="Picture 31">
            <a:extLst>
              <a:ext uri="{FF2B5EF4-FFF2-40B4-BE49-F238E27FC236}">
                <a16:creationId xmlns:a16="http://schemas.microsoft.com/office/drawing/2014/main" id="{BE70DC9B-416C-0BFF-AD84-8B2F39858EAF}"/>
              </a:ext>
            </a:extLst>
          </p:cNvPr>
          <p:cNvPicPr>
            <a:picLocks noChangeAspect="1"/>
          </p:cNvPicPr>
          <p:nvPr/>
        </p:nvPicPr>
        <p:blipFill>
          <a:blip r:embed="rId11"/>
          <a:stretch>
            <a:fillRect/>
          </a:stretch>
        </p:blipFill>
        <p:spPr>
          <a:xfrm>
            <a:off x="30761340" y="17998749"/>
            <a:ext cx="9643449" cy="5263803"/>
          </a:xfrm>
          <a:prstGeom prst="rect">
            <a:avLst/>
          </a:prstGeom>
        </p:spPr>
      </p:pic>
      <p:pic>
        <p:nvPicPr>
          <p:cNvPr id="34" name="Picture 33">
            <a:extLst>
              <a:ext uri="{FF2B5EF4-FFF2-40B4-BE49-F238E27FC236}">
                <a16:creationId xmlns:a16="http://schemas.microsoft.com/office/drawing/2014/main" id="{AA32A395-DC73-ED6D-C153-858F22F985B9}"/>
              </a:ext>
            </a:extLst>
          </p:cNvPr>
          <p:cNvPicPr>
            <a:picLocks noChangeAspect="1"/>
          </p:cNvPicPr>
          <p:nvPr/>
        </p:nvPicPr>
        <p:blipFill>
          <a:blip r:embed="rId12"/>
          <a:stretch>
            <a:fillRect/>
          </a:stretch>
        </p:blipFill>
        <p:spPr>
          <a:xfrm>
            <a:off x="33615424" y="5279475"/>
            <a:ext cx="3977139" cy="5609442"/>
          </a:xfrm>
          <a:prstGeom prst="rect">
            <a:avLst/>
          </a:prstGeom>
        </p:spPr>
      </p:pic>
      <p:pic>
        <p:nvPicPr>
          <p:cNvPr id="47" name="Picture 46">
            <a:extLst>
              <a:ext uri="{FF2B5EF4-FFF2-40B4-BE49-F238E27FC236}">
                <a16:creationId xmlns:a16="http://schemas.microsoft.com/office/drawing/2014/main" id="{EDB33790-18F7-7B11-C6B5-CCEE279EB77C}"/>
              </a:ext>
            </a:extLst>
          </p:cNvPr>
          <p:cNvPicPr>
            <a:picLocks noChangeAspect="1"/>
          </p:cNvPicPr>
          <p:nvPr/>
        </p:nvPicPr>
        <p:blipFill>
          <a:blip r:embed="rId13"/>
          <a:stretch>
            <a:fillRect/>
          </a:stretch>
        </p:blipFill>
        <p:spPr>
          <a:xfrm>
            <a:off x="31239281" y="12262631"/>
            <a:ext cx="8473521" cy="4717202"/>
          </a:xfrm>
          <a:prstGeom prst="rect">
            <a:avLst/>
          </a:prstGeom>
        </p:spPr>
      </p:pic>
      <p:sp>
        <p:nvSpPr>
          <p:cNvPr id="53" name="TextBox 52">
            <a:extLst>
              <a:ext uri="{FF2B5EF4-FFF2-40B4-BE49-F238E27FC236}">
                <a16:creationId xmlns:a16="http://schemas.microsoft.com/office/drawing/2014/main" id="{3DF23CE4-443B-879D-7940-7467DC964CE7}"/>
              </a:ext>
            </a:extLst>
          </p:cNvPr>
          <p:cNvSpPr txBox="1"/>
          <p:nvPr/>
        </p:nvSpPr>
        <p:spPr>
          <a:xfrm>
            <a:off x="31321962" y="24941040"/>
            <a:ext cx="8869698" cy="3539430"/>
          </a:xfrm>
          <a:prstGeom prst="rect">
            <a:avLst/>
          </a:prstGeom>
          <a:noFill/>
        </p:spPr>
        <p:txBody>
          <a:bodyPr wrap="square">
            <a:spAutoFit/>
          </a:bodyPr>
          <a:lstStyle/>
          <a:p>
            <a:pPr marL="457200" indent="-457200">
              <a:buFont typeface="Wingdings" panose="05000000000000000000" pitchFamily="2" charset="2"/>
              <a:buChar char="Ø"/>
            </a:pPr>
            <a:r>
              <a:rPr lang="en-US" sz="3200" dirty="0"/>
              <a:t>The vision-based system enables autonomous human and path following.</a:t>
            </a:r>
          </a:p>
          <a:p>
            <a:pPr marL="457200" indent="-457200">
              <a:buFont typeface="Wingdings" panose="05000000000000000000" pitchFamily="2" charset="2"/>
              <a:buChar char="Ø"/>
            </a:pPr>
            <a:r>
              <a:rPr lang="en-US" sz="3200" dirty="0"/>
              <a:t>Real-time perception and event-driven control were achieved.</a:t>
            </a:r>
          </a:p>
          <a:p>
            <a:pPr marL="457200" indent="-457200">
              <a:buFont typeface="Wingdings" panose="05000000000000000000" pitchFamily="2" charset="2"/>
              <a:buChar char="Ø"/>
            </a:pPr>
            <a:r>
              <a:rPr lang="en-US" sz="3200" dirty="0"/>
              <a:t>Reliable communication and motion execution worked as designed.</a:t>
            </a:r>
          </a:p>
          <a:p>
            <a:pPr marL="457200" indent="-457200">
              <a:buFont typeface="Wingdings" panose="05000000000000000000" pitchFamily="2" charset="2"/>
              <a:buChar char="Ø"/>
            </a:pPr>
            <a:r>
              <a:rPr lang="en-US" sz="3200" dirty="0"/>
              <a:t>Scalable architecture for agricultural robotics</a:t>
            </a:r>
            <a:r>
              <a:rPr lang="en-US" sz="2800" dirty="0"/>
              <a:t>.</a:t>
            </a:r>
          </a:p>
        </p:txBody>
      </p:sp>
      <p:sp>
        <p:nvSpPr>
          <p:cNvPr id="54" name="Google Shape;69;p1">
            <a:extLst>
              <a:ext uri="{FF2B5EF4-FFF2-40B4-BE49-F238E27FC236}">
                <a16:creationId xmlns:a16="http://schemas.microsoft.com/office/drawing/2014/main" id="{C483E5CC-0C10-0621-0864-B1A928C065FB}"/>
              </a:ext>
            </a:extLst>
          </p:cNvPr>
          <p:cNvSpPr/>
          <p:nvPr/>
        </p:nvSpPr>
        <p:spPr>
          <a:xfrm>
            <a:off x="31258878" y="23437741"/>
            <a:ext cx="9066160" cy="565098"/>
          </a:xfrm>
          <a:prstGeom prst="rect">
            <a:avLst/>
          </a:prstGeom>
          <a:solidFill>
            <a:srgbClr val="256693"/>
          </a:solidFill>
          <a:ln>
            <a:noFill/>
          </a:ln>
        </p:spPr>
        <p:txBody>
          <a:bodyPr spcFirstLastPara="1" wrap="square" lIns="91425" tIns="45700" rIns="91425" bIns="45700" anchor="ctr" anchorCtr="0">
            <a:noAutofit/>
          </a:bodyPr>
          <a:lstStyle/>
          <a:p>
            <a:pPr algn="ctr"/>
            <a:r>
              <a:rPr lang="en-US" sz="3200" dirty="0">
                <a:solidFill>
                  <a:schemeClr val="lt1"/>
                </a:solidFill>
              </a:rPr>
              <a:t>Fig. 5: Path Following Navigation Demo</a:t>
            </a:r>
            <a:endParaRPr sz="3200" dirty="0"/>
          </a:p>
        </p:txBody>
      </p:sp>
      <p:sp>
        <p:nvSpPr>
          <p:cNvPr id="55" name="Google Shape;69;p1">
            <a:extLst>
              <a:ext uri="{FF2B5EF4-FFF2-40B4-BE49-F238E27FC236}">
                <a16:creationId xmlns:a16="http://schemas.microsoft.com/office/drawing/2014/main" id="{DF6627B3-E7C0-3DAC-ED57-E32C2206880B}"/>
              </a:ext>
            </a:extLst>
          </p:cNvPr>
          <p:cNvSpPr/>
          <p:nvPr/>
        </p:nvSpPr>
        <p:spPr>
          <a:xfrm>
            <a:off x="31049981" y="17238901"/>
            <a:ext cx="9434806" cy="584655"/>
          </a:xfrm>
          <a:prstGeom prst="rect">
            <a:avLst/>
          </a:prstGeom>
          <a:solidFill>
            <a:srgbClr val="256693"/>
          </a:solidFill>
          <a:ln>
            <a:noFill/>
          </a:ln>
        </p:spPr>
        <p:txBody>
          <a:bodyPr spcFirstLastPara="1" wrap="square" lIns="91425" tIns="45700" rIns="91425" bIns="45700" anchor="ctr" anchorCtr="0">
            <a:noAutofit/>
          </a:bodyPr>
          <a:lstStyle/>
          <a:p>
            <a:pPr algn="ctr"/>
            <a:r>
              <a:rPr lang="en-US" sz="3200" dirty="0">
                <a:solidFill>
                  <a:schemeClr val="lt1"/>
                </a:solidFill>
              </a:rPr>
              <a:t>Fig. 4: Robot - Human Following Navigation Demo</a:t>
            </a:r>
            <a:endParaRPr sz="3200" dirty="0"/>
          </a:p>
        </p:txBody>
      </p:sp>
      <p:sp>
        <p:nvSpPr>
          <p:cNvPr id="56" name="Google Shape;69;p1">
            <a:extLst>
              <a:ext uri="{FF2B5EF4-FFF2-40B4-BE49-F238E27FC236}">
                <a16:creationId xmlns:a16="http://schemas.microsoft.com/office/drawing/2014/main" id="{75B7B4A5-1B6E-2F94-1846-0E066F839CAB}"/>
              </a:ext>
            </a:extLst>
          </p:cNvPr>
          <p:cNvSpPr/>
          <p:nvPr/>
        </p:nvSpPr>
        <p:spPr>
          <a:xfrm>
            <a:off x="30513554" y="11064112"/>
            <a:ext cx="10326132" cy="957793"/>
          </a:xfrm>
          <a:prstGeom prst="rect">
            <a:avLst/>
          </a:prstGeom>
          <a:solidFill>
            <a:srgbClr val="256693"/>
          </a:solidFill>
          <a:ln>
            <a:noFill/>
          </a:ln>
        </p:spPr>
        <p:txBody>
          <a:bodyPr spcFirstLastPara="1" wrap="square" lIns="91425" tIns="45700" rIns="91425" bIns="45700" anchor="ctr" anchorCtr="0">
            <a:noAutofit/>
          </a:bodyPr>
          <a:lstStyle/>
          <a:p>
            <a:pPr algn="ctr"/>
            <a:r>
              <a:rPr lang="en-US" sz="3200" dirty="0">
                <a:solidFill>
                  <a:schemeClr val="lt1"/>
                </a:solidFill>
              </a:rPr>
              <a:t>Fig. 3: Human Detection for Following Navigation Demo</a:t>
            </a:r>
            <a:endParaRPr sz="3200" dirty="0"/>
          </a:p>
        </p:txBody>
      </p:sp>
      <p:pic>
        <p:nvPicPr>
          <p:cNvPr id="2" name="Picture 1">
            <a:extLst>
              <a:ext uri="{FF2B5EF4-FFF2-40B4-BE49-F238E27FC236}">
                <a16:creationId xmlns:a16="http://schemas.microsoft.com/office/drawing/2014/main" id="{1EBDAAE8-733C-AAFF-7D4E-4C2F4FADD0D8}"/>
              </a:ext>
            </a:extLst>
          </p:cNvPr>
          <p:cNvPicPr>
            <a:picLocks noChangeAspect="1"/>
          </p:cNvPicPr>
          <p:nvPr/>
        </p:nvPicPr>
        <p:blipFill>
          <a:blip r:embed="rId14"/>
          <a:stretch>
            <a:fillRect/>
          </a:stretch>
        </p:blipFill>
        <p:spPr>
          <a:xfrm>
            <a:off x="41400965" y="20519266"/>
            <a:ext cx="8756184" cy="6463249"/>
          </a:xfrm>
          <a:prstGeom prst="rect">
            <a:avLst/>
          </a:prstGeom>
        </p:spPr>
      </p:pic>
    </p:spTree>
  </p:cSld>
  <p:clrMapOvr>
    <a:masterClrMapping/>
  </p:clrMapOvr>
</p:sld>
</file>

<file path=ppt/theme/theme1.xml><?xml version="1.0" encoding="utf-8"?>
<a:theme xmlns:a="http://schemas.openxmlformats.org/drawingml/2006/main" name="Office Theme">
  <a:themeElements>
    <a:clrScheme name="Custom 18">
      <a:dk1>
        <a:srgbClr val="000000"/>
      </a:dk1>
      <a:lt1>
        <a:srgbClr val="FFFFFF"/>
      </a:lt1>
      <a:dk2>
        <a:srgbClr val="1F497D"/>
      </a:dk2>
      <a:lt2>
        <a:srgbClr val="EEECE1"/>
      </a:lt2>
      <a:accent1>
        <a:srgbClr val="4F81BD"/>
      </a:accent1>
      <a:accent2>
        <a:srgbClr val="C0504D"/>
      </a:accent2>
      <a:accent3>
        <a:srgbClr val="A9A9A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c983b048-65ac-45af-b7c9-d5d531ad9d5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30AA6BF9160644DA244DC7E9F026257" ma:contentTypeVersion="15" ma:contentTypeDescription="Create a new document." ma:contentTypeScope="" ma:versionID="b55af1c567a3fa4afb96cef9d269c238">
  <xsd:schema xmlns:xsd="http://www.w3.org/2001/XMLSchema" xmlns:xs="http://www.w3.org/2001/XMLSchema" xmlns:p="http://schemas.microsoft.com/office/2006/metadata/properties" xmlns:ns3="3c4573b4-1df5-42b2-bb74-100c5fa7ee54" xmlns:ns4="c983b048-65ac-45af-b7c9-d5d531ad9d58" targetNamespace="http://schemas.microsoft.com/office/2006/metadata/properties" ma:root="true" ma:fieldsID="a5c6561bd8e585733ef42408abde12e7" ns3:_="" ns4:_="">
    <xsd:import namespace="3c4573b4-1df5-42b2-bb74-100c5fa7ee54"/>
    <xsd:import namespace="c983b048-65ac-45af-b7c9-d5d531ad9d58"/>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SearchProperties" minOccurs="0"/>
                <xsd:element ref="ns4:MediaServiceObjectDetectorVersions" minOccurs="0"/>
                <xsd:element ref="ns4:MediaServiceDateTaken" minOccurs="0"/>
                <xsd:element ref="ns4:MediaServiceSystemTags" minOccurs="0"/>
                <xsd:element ref="ns4:MediaServiceLocation" minOccurs="0"/>
                <xsd:element ref="ns4:MediaServiceGenerationTime" minOccurs="0"/>
                <xsd:element ref="ns4:MediaServiceEventHashCode" minOccurs="0"/>
                <xsd:element ref="ns4:MediaLengthInSeconds" minOccurs="0"/>
                <xsd:element ref="ns4:MediaServiceOCR" minOccurs="0"/>
                <xsd:element ref="ns4: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4573b4-1df5-42b2-bb74-100c5fa7ee54"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983b048-65ac-45af-b7c9-d5d531ad9d58"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SystemTags" ma:index="16" nillable="true" ma:displayName="MediaServiceSystemTags" ma:hidden="true" ma:internalName="MediaServiceSystemTags" ma:readOnly="true">
      <xsd:simpleType>
        <xsd:restriction base="dms:Note"/>
      </xsd:simpleType>
    </xsd:element>
    <xsd:element name="MediaServiceLocation" ma:index="17" nillable="true" ma:displayName="Location" ma:indexed="true"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element name="_activity" ma:index="2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ECC4EE2-20EB-41BE-B04C-4DC0B35DE443}">
  <ds:schemaRefs>
    <ds:schemaRef ds:uri="http://purl.org/dc/terms/"/>
    <ds:schemaRef ds:uri="c983b048-65ac-45af-b7c9-d5d531ad9d58"/>
    <ds:schemaRef ds:uri="http://www.w3.org/XML/1998/namespace"/>
    <ds:schemaRef ds:uri="http://purl.org/dc/dcmitype/"/>
    <ds:schemaRef ds:uri="http://purl.org/dc/elements/1.1/"/>
    <ds:schemaRef ds:uri="http://schemas.microsoft.com/office/2006/documentManagement/types"/>
    <ds:schemaRef ds:uri="3c4573b4-1df5-42b2-bb74-100c5fa7ee54"/>
    <ds:schemaRef ds:uri="http://schemas.microsoft.com/office/2006/metadata/properties"/>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0248D9EA-50EB-4FBA-9D31-6036D04E7E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c4573b4-1df5-42b2-bb74-100c5fa7ee54"/>
    <ds:schemaRef ds:uri="c983b048-65ac-45af-b7c9-d5d531ad9d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D1ED73A-7A38-4883-A129-7271B500D41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4084</TotalTime>
  <Words>527</Words>
  <Application>Microsoft Office PowerPoint</Application>
  <PresentationFormat>Custom</PresentationFormat>
  <Paragraphs>51</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Arial Black</vt:lpstr>
      <vt:lpstr>Calibri</vt:lpstr>
      <vt:lpstr>Cambria Math</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 Larson</dc:creator>
  <cp:lastModifiedBy>Charlotte Espinosa</cp:lastModifiedBy>
  <cp:revision>27</cp:revision>
  <cp:lastPrinted>2026-03-18T18:50:56Z</cp:lastPrinted>
  <dcterms:created xsi:type="dcterms:W3CDTF">2013-02-10T21:14:48Z</dcterms:created>
  <dcterms:modified xsi:type="dcterms:W3CDTF">2026-03-18T19:03:12Z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0x010100030AA6BF9160644DA244DC7E9F026257</vt:lpwstr>
  </property>
</Properties>
</file>